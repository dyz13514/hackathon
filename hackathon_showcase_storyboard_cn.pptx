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png" ContentType="image/png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\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李禹辰</cp:lastModifiedBy>
  <cp:revision>157</cp:revision>
  <dcterms:created xsi:type="dcterms:W3CDTF">2019-06-19T02:08:00Z</dcterms:created>
  <dcterms:modified xsi:type="dcterms:W3CDTF">2026-09-24T09:16:34Z</dcterms:modified>
</cp:coreProperties>
</file>

<file path=docProps\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1ADD06AF20D74C87A7D5195B369767E1_11</vt:lpwstr>
  </property>
</Properties>
</file>

<file path=ppt\_rels\presentation.xml.rels>&#65279;<?xml version="1.0" encoding="UTF-8" standalone="yes"?>
<Relationships xmlns="http://schemas.openxmlformats.org/package/2006/relationships">
  <Relationship Id="rId6" Type="http://schemas.openxmlformats.org/officeDocument/2006/relationships/tableStyles" Target="tableStyles.xml" />
  <Relationship Id="rId5" Type="http://schemas.openxmlformats.org/officeDocument/2006/relationships/viewProps" Target="viewProps.xml" />
  <Relationship Id="rId4" Type="http://schemas.openxmlformats.org/officeDocument/2006/relationships/presProps" Target="presProps.xml" />
  <Relationship Id="rId3" Type="http://schemas.openxmlformats.org/officeDocument/2006/relationships/slide" Target="slides/slide1.xml" />
  <Relationship Id="rId2" Type="http://schemas.openxmlformats.org/officeDocument/2006/relationships/theme" Target="theme/theme1.xml" />
  <Relationship Id="rId1" Type="http://schemas.openxmlformats.org/officeDocument/2006/relationships/slideMaster" Target="slideMasters/slideMaster1.xml" />
  <Relationship Id="rId12" Type="http://schemas.openxmlformats.org/officeDocument/2006/relationships/slide" Target="slides/slide2.xml" />
  <Relationship Id="rId13" Type="http://schemas.openxmlformats.org/officeDocument/2006/relationships/slide" Target="slides/slide3.xml" />
  <Relationship Id="rId14" Type="http://schemas.openxmlformats.org/officeDocument/2006/relationships/slide" Target="slides/slide4.xml" />
  <Relationship Id="rId15" Type="http://schemas.openxmlformats.org/officeDocument/2006/relationships/slide" Target="slides/slide5.xml" />
  <Relationship Id="rId16" Type="http://schemas.openxmlformats.org/officeDocument/2006/relationships/slide" Target="slides/slide6.xml" />
  <Relationship Id="rId17" Type="http://schemas.openxmlformats.org/officeDocument/2006/relationships/slide" Target="slides/slide7.xml" />
  <Relationship Id="rId18" Type="http://schemas.openxmlformats.org/officeDocument/2006/relationships/slide" Target="slides/slide8.xml" />
  <Relationship Id="rId19" Type="http://schemas.openxmlformats.org/officeDocument/2006/relationships/slide" Target="slides/slide9.xml" />
  <Relationship Id="rId20" Type="http://schemas.openxmlformats.org/officeDocument/2006/relationships/slide" Target="slides/slide10.xml" />
  <Relationship Id="rId21" Type="http://schemas.openxmlformats.org/officeDocument/2006/relationships/slide" Target="slides/slide11.xml" />
  <Relationship Id="rId22" Type="http://schemas.openxmlformats.org/officeDocument/2006/relationships/slide" Target="slides/slide12.xml" />
  <Relationship Id="rId23" Type="http://schemas.openxmlformats.org/officeDocument/2006/relationships/slide" Target="slides/slide13.xml" />
  <Relationship Id="rId24" Type="http://schemas.openxmlformats.org/officeDocument/2006/relationships/slide" Target="slides/slide14.xml" />
  <Relationship Id="rId25" Type="http://schemas.openxmlformats.org/officeDocument/2006/relationships/slide" Target="slides/slide15.xml" />
  <Relationship Id="rId26" Type="http://schemas.openxmlformats.org/officeDocument/2006/relationships/slide" Target="slides/slide16.xml" />
  <Relationship Id="rId27" Type="http://schemas.openxmlformats.org/officeDocument/2006/relationships/slide" Target="slides/slide17.xml" />
</Relationship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\slideLayouts\_rels\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\slideLayouts\_rels\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\slideLayouts\_rels\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\slideLayouts\_rels\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\slideLayouts\_rels\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2" Type="http://schemas.openxmlformats.org/officeDocument/2006/relationships/image" Target="../media/cover-hero.png"/></Relationships>
</file>

<file path=ppt\slides\_rels\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2" Type="http://schemas.openxmlformats.org/officeDocument/2006/relationships/image" Target="../media/incident-hero.png"/></Relationships>
</file>

<file path=ppt\slides\_rels\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2" Type="http://schemas.openxmlformats.org/officeDocument/2006/relationships/image" Target="../media/whatif-hero.png"/></Relationships>
</file>

<file path=ppt\slides\_rels\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\slides\_rels\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2" Type="http://schemas.openxmlformats.org/officeDocument/2006/relationships/image" Target="../media/architecture-hero.png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0" name="image50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1" name="shape51"/>
          <p:cNvSpPr/>
          <p:nvPr/>
        </p:nvSpPr>
        <p:spPr>
          <a:xfrm>
            <a:off x="0" y="0"/>
            <a:ext cx="5700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52"/>
          <p:cNvSpPr txBox="1"/>
          <p:nvPr/>
        </p:nvSpPr>
        <p:spPr>
          <a:xfrm>
            <a:off x="620000" y="1670000"/>
            <a:ext cx="4700000" cy="7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3500" b="1">
                <a:solidFill>
                  <a:srgbClr val="FFFFFF"/>
                </a:solidFill>
                <a:latin typeface="Aptos"/>
                <a:ea typeface="Microsoft YaHei"/>
              </a:rPr>
              <a:t>AI 生产计划助手</a:t>
            </a:r>
          </a:p>
        </p:txBody>
      </p:sp>
      <p:sp>
        <p:nvSpPr>
          <p:cNvPr id="53" name="text53"/>
          <p:cNvSpPr txBox="1"/>
          <p:nvPr/>
        </p:nvSpPr>
        <p:spPr>
          <a:xfrm>
            <a:off x="650000" y="2560000"/>
            <a:ext cx="4300000" cy="3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850" b="0">
                <a:solidFill>
                  <a:srgbClr val="C4D9E7"/>
                </a:solidFill>
                <a:latin typeface="Aptos"/>
                <a:ea typeface="Microsoft YaHei"/>
              </a:rPr>
              <a:t>面对车间突发变化的可信决策智能体</a:t>
            </a:r>
          </a:p>
        </p:txBody>
      </p:sp>
      <p:sp>
        <p:nvSpPr>
          <p:cNvPr id="54" name="shape54"/>
          <p:cNvSpPr/>
          <p:nvPr/>
        </p:nvSpPr>
        <p:spPr>
          <a:xfrm>
            <a:off x="650000" y="3260000"/>
            <a:ext cx="3700000" cy="68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ext55"/>
          <p:cNvSpPr txBox="1"/>
          <p:nvPr/>
        </p:nvSpPr>
        <p:spPr>
          <a:xfrm>
            <a:off x="860000" y="3450000"/>
            <a:ext cx="3300000" cy="2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理解变化  ·  推演影响  ·  生成可审计提案</a:t>
            </a:r>
          </a:p>
        </p:txBody>
      </p:sp>
      <p:sp>
        <p:nvSpPr>
          <p:cNvPr id="56" name="text56"/>
          <p:cNvSpPr txBox="1"/>
          <p:nvPr/>
        </p:nvSpPr>
        <p:spPr>
          <a:xfrm>
            <a:off x="650000" y="4300000"/>
            <a:ext cx="3500000" cy="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00" b="1">
                <a:solidFill>
                  <a:srgbClr val="FFC857"/>
                </a:solidFill>
                <a:latin typeface="Aptos"/>
                <a:ea typeface="Microsoft YaHei"/>
              </a:rPr>
              <a:t>NUS-ISS  |  Show Me Your Agent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0" name="image50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1" name="shape51"/>
          <p:cNvSpPr/>
          <p:nvPr/>
        </p:nvSpPr>
        <p:spPr>
          <a:xfrm>
            <a:off x="0" y="0"/>
            <a:ext cx="5500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52"/>
          <p:cNvSpPr txBox="1"/>
          <p:nvPr/>
        </p:nvSpPr>
        <p:spPr>
          <a:xfrm>
            <a:off x="650000" y="670000"/>
            <a:ext cx="43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750" b="1">
                <a:solidFill>
                  <a:srgbClr val="FFFFFF"/>
                </a:solidFill>
                <a:latin typeface="Aptos"/>
                <a:ea typeface="Microsoft YaHei"/>
              </a:rPr>
              <a:t>从一次真实的车间突发事件开始</a:t>
            </a:r>
          </a:p>
        </p:txBody>
      </p:sp>
      <p:sp>
        <p:nvSpPr>
          <p:cNvPr id="53" name="text53"/>
          <p:cNvSpPr txBox="1"/>
          <p:nvPr/>
        </p:nvSpPr>
        <p:spPr>
          <a:xfrm>
            <a:off x="650000" y="1470000"/>
            <a:ext cx="40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500" b="1">
                <a:solidFill>
                  <a:srgbClr val="FFC857"/>
                </a:solidFill>
                <a:latin typeface="Aptos"/>
                <a:ea typeface="Microsoft YaHei"/>
              </a:rPr>
              <a:t>2026-03-03 08:00：CNC-01 停机，预计持续 6 小时</a:t>
            </a:r>
          </a:p>
        </p:txBody>
      </p:sp>
      <p:sp>
        <p:nvSpPr>
          <p:cNvPr id="60" name="shape60"/>
          <p:cNvSpPr/>
          <p:nvPr/>
        </p:nvSpPr>
        <p:spPr>
          <a:xfrm>
            <a:off x="650000" y="2150000"/>
            <a:ext cx="3850000" cy="8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shape61"/>
          <p:cNvSpPr/>
          <p:nvPr/>
        </p:nvSpPr>
        <p:spPr>
          <a:xfrm>
            <a:off x="650000" y="2150000"/>
            <a:ext cx="65000" cy="80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ext62"/>
          <p:cNvSpPr txBox="1"/>
          <p:nvPr/>
        </p:nvSpPr>
        <p:spPr>
          <a:xfrm>
            <a:off x="830000" y="2300000"/>
            <a:ext cx="35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订单承诺</a:t>
            </a:r>
          </a:p>
        </p:txBody>
      </p:sp>
      <p:sp>
        <p:nvSpPr>
          <p:cNvPr id="63" name="text63"/>
          <p:cNvSpPr txBox="1"/>
          <p:nvPr/>
        </p:nvSpPr>
        <p:spPr>
          <a:xfrm>
            <a:off x="830000" y="2670000"/>
            <a:ext cx="3510000" cy="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哪些订单会延迟？哪些还能按时完成？</a:t>
            </a:r>
          </a:p>
        </p:txBody>
      </p:sp>
      <p:sp>
        <p:nvSpPr>
          <p:cNvPr id="70" name="shape70"/>
          <p:cNvSpPr/>
          <p:nvPr/>
        </p:nvSpPr>
        <p:spPr>
          <a:xfrm>
            <a:off x="650000" y="3100000"/>
            <a:ext cx="3850000" cy="8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71"/>
          <p:cNvSpPr/>
          <p:nvPr/>
        </p:nvSpPr>
        <p:spPr>
          <a:xfrm>
            <a:off x="650000" y="3100000"/>
            <a:ext cx="65000" cy="80000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72" name="text72"/>
          <p:cNvSpPr txBox="1"/>
          <p:nvPr/>
        </p:nvSpPr>
        <p:spPr>
          <a:xfrm>
            <a:off x="830000" y="3250000"/>
            <a:ext cx="35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资源约束</a:t>
            </a:r>
          </a:p>
        </p:txBody>
      </p:sp>
      <p:sp>
        <p:nvSpPr>
          <p:cNvPr id="73" name="text73"/>
          <p:cNvSpPr txBox="1"/>
          <p:nvPr/>
        </p:nvSpPr>
        <p:spPr>
          <a:xfrm>
            <a:off x="830000" y="3620000"/>
            <a:ext cx="3510000" cy="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CNC-01 是深孔钻削能力的关键资源。</a:t>
            </a:r>
          </a:p>
        </p:txBody>
      </p:sp>
      <p:sp>
        <p:nvSpPr>
          <p:cNvPr id="80" name="shape80"/>
          <p:cNvSpPr/>
          <p:nvPr/>
        </p:nvSpPr>
        <p:spPr>
          <a:xfrm>
            <a:off x="650000" y="4050000"/>
            <a:ext cx="3850000" cy="8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shape81"/>
          <p:cNvSpPr/>
          <p:nvPr/>
        </p:nvSpPr>
        <p:spPr>
          <a:xfrm>
            <a:off x="650000" y="4050000"/>
            <a:ext cx="65000" cy="800000"/>
          </a:xfrm>
          <a:prstGeom prst="rect">
            <a:avLst/>
          </a:prstGeom>
          <a:solidFill>
            <a:srgbClr val="8E7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text82"/>
          <p:cNvSpPr txBox="1"/>
          <p:nvPr/>
        </p:nvSpPr>
        <p:spPr>
          <a:xfrm>
            <a:off x="830000" y="4200000"/>
            <a:ext cx="35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决策压力</a:t>
            </a:r>
          </a:p>
        </p:txBody>
      </p:sp>
      <p:sp>
        <p:nvSpPr>
          <p:cNvPr id="83" name="text83"/>
          <p:cNvSpPr txBox="1"/>
          <p:nvPr/>
        </p:nvSpPr>
        <p:spPr>
          <a:xfrm>
            <a:off x="830000" y="4570000"/>
            <a:ext cx="3510000" cy="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计划员需要在有限时间内提出可执行的调整方案。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项目要解决的四个关键问题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从业务需求推导出系统的能力边界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03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10"/>
          <p:cNvSpPr txBox="1"/>
          <p:nvPr/>
        </p:nvSpPr>
        <p:spPr>
          <a:xfrm>
            <a:off x="850000" y="1650000"/>
            <a:ext cx="103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600" b="0">
                <a:solidFill>
                  <a:srgbClr val="D3E3EC"/>
                </a:solidFill>
                <a:latin typeface="Aptos"/>
                <a:ea typeface="Microsoft YaHei"/>
              </a:rPr>
              <a:t>一次停机发生后，计划员需要在同一条决策链里获得四类答案。</a:t>
            </a:r>
          </a:p>
        </p:txBody>
      </p:sp>
      <p:sp>
        <p:nvSpPr>
          <p:cNvPr id="20" name="shape20"/>
          <p:cNvSpPr/>
          <p:nvPr/>
        </p:nvSpPr>
        <p:spPr>
          <a:xfrm>
            <a:off x="900000" y="2350000"/>
            <a:ext cx="2450000" cy="13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21"/>
          <p:cNvSpPr/>
          <p:nvPr/>
        </p:nvSpPr>
        <p:spPr>
          <a:xfrm>
            <a:off x="900000" y="2350000"/>
            <a:ext cx="65000" cy="135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22"/>
          <p:cNvSpPr txBox="1"/>
          <p:nvPr/>
        </p:nvSpPr>
        <p:spPr>
          <a:xfrm>
            <a:off x="1080000" y="2500000"/>
            <a:ext cx="2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看清事实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1080000" y="2870000"/>
            <a:ext cx="211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订单、库存、机器、工人处于哪一种状态？</a:t>
            </a:r>
          </a:p>
        </p:txBody>
      </p:sp>
      <p:sp>
        <p:nvSpPr>
          <p:cNvPr id="30" name="shape30"/>
          <p:cNvSpPr/>
          <p:nvPr/>
        </p:nvSpPr>
        <p:spPr>
          <a:xfrm>
            <a:off x="3600000" y="2350000"/>
            <a:ext cx="2450000" cy="13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31"/>
          <p:cNvSpPr/>
          <p:nvPr/>
        </p:nvSpPr>
        <p:spPr>
          <a:xfrm>
            <a:off x="3600000" y="2350000"/>
            <a:ext cx="65000" cy="135000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32"/>
          <p:cNvSpPr txBox="1"/>
          <p:nvPr/>
        </p:nvSpPr>
        <p:spPr>
          <a:xfrm>
            <a:off x="3780000" y="2500000"/>
            <a:ext cx="2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找到可行方案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3780000" y="2870000"/>
            <a:ext cx="211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硬约束下有哪些作业能排、哪些必须说明原因？</a:t>
            </a:r>
          </a:p>
        </p:txBody>
      </p:sp>
      <p:sp>
        <p:nvSpPr>
          <p:cNvPr id="40" name="shape40"/>
          <p:cNvSpPr/>
          <p:nvPr/>
        </p:nvSpPr>
        <p:spPr>
          <a:xfrm>
            <a:off x="6300000" y="2350000"/>
            <a:ext cx="2450000" cy="13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hape41"/>
          <p:cNvSpPr/>
          <p:nvPr/>
        </p:nvSpPr>
        <p:spPr>
          <a:xfrm>
            <a:off x="6300000" y="2350000"/>
            <a:ext cx="65000" cy="1350000"/>
          </a:xfrm>
          <a:prstGeom prst="rect">
            <a:avLst/>
          </a:prstGeom>
          <a:solidFill>
            <a:srgbClr val="8E7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42"/>
          <p:cNvSpPr txBox="1"/>
          <p:nvPr/>
        </p:nvSpPr>
        <p:spPr>
          <a:xfrm>
            <a:off x="6480000" y="2500000"/>
            <a:ext cx="2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控制变更风险</a:t>
            </a:r>
          </a:p>
        </p:txBody>
      </p:sp>
      <p:sp>
        <p:nvSpPr>
          <p:cNvPr id="43" name="text43"/>
          <p:cNvSpPr txBox="1"/>
          <p:nvPr/>
        </p:nvSpPr>
        <p:spPr>
          <a:xfrm>
            <a:off x="6480000" y="2870000"/>
            <a:ext cx="211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推演结果如何与正式计划隔离？谁有权生效？</a:t>
            </a:r>
          </a:p>
        </p:txBody>
      </p:sp>
      <p:sp>
        <p:nvSpPr>
          <p:cNvPr id="50" name="shape50"/>
          <p:cNvSpPr/>
          <p:nvPr/>
        </p:nvSpPr>
        <p:spPr>
          <a:xfrm>
            <a:off x="9000000" y="2350000"/>
            <a:ext cx="2450000" cy="13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hape51"/>
          <p:cNvSpPr/>
          <p:nvPr/>
        </p:nvSpPr>
        <p:spPr>
          <a:xfrm>
            <a:off x="9000000" y="2350000"/>
            <a:ext cx="65000" cy="135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52"/>
          <p:cNvSpPr txBox="1"/>
          <p:nvPr/>
        </p:nvSpPr>
        <p:spPr>
          <a:xfrm>
            <a:off x="9180000" y="2500000"/>
            <a:ext cx="2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留下决策证据</a:t>
            </a:r>
          </a:p>
        </p:txBody>
      </p:sp>
      <p:sp>
        <p:nvSpPr>
          <p:cNvPr id="53" name="text53"/>
          <p:cNvSpPr txBox="1"/>
          <p:nvPr/>
        </p:nvSpPr>
        <p:spPr>
          <a:xfrm>
            <a:off x="9180000" y="2870000"/>
            <a:ext cx="211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输入、工具调用、结果和审批如何追溯？</a:t>
            </a:r>
          </a:p>
        </p:txBody>
      </p:sp>
      <p:sp>
        <p:nvSpPr>
          <p:cNvPr id="60" name="text60"/>
          <p:cNvSpPr txBox="1"/>
          <p:nvPr/>
        </p:nvSpPr>
        <p:spPr>
          <a:xfrm>
            <a:off x="1550000" y="4650000"/>
            <a:ext cx="900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2050" b="1">
                <a:solidFill>
                  <a:srgbClr val="FFFFFF"/>
                </a:solidFill>
                <a:latin typeface="Aptos"/>
                <a:ea typeface="Microsoft YaHei"/>
              </a:rPr>
              <a:t>项目需求：快，但每一步都能被解释、验证和审计。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目标体验：把“处理突发事件”变成一条受控流程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计划员始终看得见当前状态、可选方案与决策权限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04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arrow20"/>
          <p:cNvSpPr/>
          <p:nvPr/>
        </p:nvSpPr>
        <p:spPr>
          <a:xfrm>
            <a:off x="1650000" y="3200000"/>
            <a:ext cx="840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30" name="shape30"/>
          <p:cNvSpPr/>
          <p:nvPr/>
        </p:nvSpPr>
        <p:spPr>
          <a:xfrm>
            <a:off x="800000" y="2400000"/>
            <a:ext cx="1700000" cy="11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930000" y="2530000"/>
            <a:ext cx="14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01 识别变化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930000" y="2840000"/>
            <a:ext cx="14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停机、缺料、插单</a:t>
            </a:r>
          </a:p>
        </p:txBody>
      </p:sp>
      <p:sp>
        <p:nvSpPr>
          <p:cNvPr id="40" name="shape40"/>
          <p:cNvSpPr/>
          <p:nvPr/>
        </p:nvSpPr>
        <p:spPr>
          <a:xfrm>
            <a:off x="3000000" y="2400000"/>
            <a:ext cx="1700000" cy="11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41"/>
          <p:cNvSpPr txBox="1"/>
          <p:nvPr/>
        </p:nvSpPr>
        <p:spPr>
          <a:xfrm>
            <a:off x="3130000" y="2530000"/>
            <a:ext cx="14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02 结构化确认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3130000" y="2840000"/>
            <a:ext cx="14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把意图变成可校验场景</a:t>
            </a:r>
          </a:p>
        </p:txBody>
      </p:sp>
      <p:sp>
        <p:nvSpPr>
          <p:cNvPr id="50" name="shape50"/>
          <p:cNvSpPr/>
          <p:nvPr/>
        </p:nvSpPr>
        <p:spPr>
          <a:xfrm>
            <a:off x="5200000" y="2400000"/>
            <a:ext cx="1700000" cy="11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51"/>
          <p:cNvSpPr txBox="1"/>
          <p:nvPr/>
        </p:nvSpPr>
        <p:spPr>
          <a:xfrm>
            <a:off x="5330000" y="2530000"/>
            <a:ext cx="14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03 沙盒推演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5330000" y="2840000"/>
            <a:ext cx="14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计算影响并保留原计划</a:t>
            </a:r>
          </a:p>
        </p:txBody>
      </p:sp>
      <p:sp>
        <p:nvSpPr>
          <p:cNvPr id="60" name="shape60"/>
          <p:cNvSpPr/>
          <p:nvPr/>
        </p:nvSpPr>
        <p:spPr>
          <a:xfrm>
            <a:off x="7400000" y="2400000"/>
            <a:ext cx="1700000" cy="11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ext61"/>
          <p:cNvSpPr txBox="1"/>
          <p:nvPr/>
        </p:nvSpPr>
        <p:spPr>
          <a:xfrm>
            <a:off x="7530000" y="2530000"/>
            <a:ext cx="14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04 提案审批</a:t>
            </a:r>
          </a:p>
        </p:txBody>
      </p:sp>
      <p:sp>
        <p:nvSpPr>
          <p:cNvPr id="62" name="text62"/>
          <p:cNvSpPr txBox="1"/>
          <p:nvPr/>
        </p:nvSpPr>
        <p:spPr>
          <a:xfrm>
            <a:off x="7530000" y="2840000"/>
            <a:ext cx="14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人决定是否激活</a:t>
            </a:r>
          </a:p>
        </p:txBody>
      </p:sp>
      <p:sp>
        <p:nvSpPr>
          <p:cNvPr id="70" name="shape70"/>
          <p:cNvSpPr/>
          <p:nvPr/>
        </p:nvSpPr>
        <p:spPr>
          <a:xfrm>
            <a:off x="9600000" y="2400000"/>
            <a:ext cx="1700000" cy="11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text71"/>
          <p:cNvSpPr txBox="1"/>
          <p:nvPr/>
        </p:nvSpPr>
        <p:spPr>
          <a:xfrm>
            <a:off x="9730000" y="2530000"/>
            <a:ext cx="14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05 追踪复盘</a:t>
            </a:r>
          </a:p>
        </p:txBody>
      </p:sp>
      <p:sp>
        <p:nvSpPr>
          <p:cNvPr id="72" name="text72"/>
          <p:cNvSpPr txBox="1"/>
          <p:nvPr/>
        </p:nvSpPr>
        <p:spPr>
          <a:xfrm>
            <a:off x="9730000" y="2840000"/>
            <a:ext cx="14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留下完整证据链</a:t>
            </a:r>
          </a:p>
        </p:txBody>
      </p:sp>
      <p:sp>
        <p:nvSpPr>
          <p:cNvPr id="80" name="text80"/>
          <p:cNvSpPr txBox="1"/>
          <p:nvPr/>
        </p:nvSpPr>
        <p:spPr>
          <a:xfrm>
            <a:off x="1900000" y="4550000"/>
            <a:ext cx="820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950" b="1">
                <a:solidFill>
                  <a:srgbClr val="FFC857"/>
                </a:solidFill>
                <a:latin typeface="Aptos"/>
                <a:ea typeface="Microsoft YaHei"/>
              </a:rPr>
              <a:t>系统提供建议与证据；计划员拥有正式计划的决定权。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总体架构：数据流与控制流如何连接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技术栈嵌入业务决策链，而不是单独罗列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05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10"/>
          <p:cNvSpPr txBox="1"/>
          <p:nvPr/>
        </p:nvSpPr>
        <p:spPr>
          <a:xfrm>
            <a:off x="750000" y="160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1">
                <a:solidFill>
                  <a:srgbClr val="42C7B5"/>
                </a:solidFill>
                <a:latin typeface="Aptos"/>
                <a:ea typeface="Microsoft YaHei"/>
              </a:rPr>
              <a:t>数据流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9500000" y="160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1">
                <a:solidFill>
                  <a:srgbClr val="FFC857"/>
                </a:solidFill>
                <a:latin typeface="Aptos"/>
                <a:ea typeface="Microsoft YaHei"/>
              </a:rPr>
              <a:t>控制流</a:t>
            </a:r>
          </a:p>
        </p:txBody>
      </p:sp>
      <p:sp>
        <p:nvSpPr>
          <p:cNvPr id="12" name="arrow12"/>
          <p:cNvSpPr/>
          <p:nvPr/>
        </p:nvSpPr>
        <p:spPr>
          <a:xfrm>
            <a:off x="2450000" y="2600000"/>
            <a:ext cx="6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3" name="arrow13"/>
          <p:cNvSpPr/>
          <p:nvPr/>
        </p:nvSpPr>
        <p:spPr>
          <a:xfrm>
            <a:off x="5000000" y="2600000"/>
            <a:ext cx="6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4" name="arrow14"/>
          <p:cNvSpPr/>
          <p:nvPr/>
        </p:nvSpPr>
        <p:spPr>
          <a:xfrm>
            <a:off x="7550000" y="2600000"/>
            <a:ext cx="6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5" name="arrow15"/>
          <p:cNvSpPr/>
          <p:nvPr/>
        </p:nvSpPr>
        <p:spPr>
          <a:xfrm>
            <a:off x="10000000" y="2600000"/>
            <a:ext cx="6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20" name="shape20"/>
          <p:cNvSpPr/>
          <p:nvPr/>
        </p:nvSpPr>
        <p:spPr>
          <a:xfrm>
            <a:off x="650000" y="2100000"/>
            <a:ext cx="1800000" cy="10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780000" y="2230000"/>
            <a:ext cx="1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业务数据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780000" y="2540000"/>
            <a:ext cx="154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订单｜物料｜机器｜工人</a:t>
            </a:r>
          </a:p>
        </p:txBody>
      </p:sp>
      <p:sp>
        <p:nvSpPr>
          <p:cNvPr id="30" name="shape30"/>
          <p:cNvSpPr/>
          <p:nvPr/>
        </p:nvSpPr>
        <p:spPr>
          <a:xfrm>
            <a:off x="3100000" y="2100000"/>
            <a:ext cx="1800000" cy="10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3230000" y="2230000"/>
            <a:ext cx="1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React 界面 + FastAPI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3230000" y="2540000"/>
            <a:ext cx="154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收集意图｜返回可解释结果</a:t>
            </a:r>
          </a:p>
        </p:txBody>
      </p:sp>
      <p:sp>
        <p:nvSpPr>
          <p:cNvPr id="40" name="shape40"/>
          <p:cNvSpPr/>
          <p:nvPr/>
        </p:nvSpPr>
        <p:spPr>
          <a:xfrm>
            <a:off x="5650000" y="2100000"/>
            <a:ext cx="1800000" cy="105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41"/>
          <p:cNvSpPr txBox="1"/>
          <p:nvPr/>
        </p:nvSpPr>
        <p:spPr>
          <a:xfrm>
            <a:off x="5780000" y="2230000"/>
            <a:ext cx="1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编排层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5780000" y="2540000"/>
            <a:ext cx="154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路由 Intent｜管理 Trace 与预算</a:t>
            </a:r>
          </a:p>
        </p:txBody>
      </p:sp>
      <p:sp>
        <p:nvSpPr>
          <p:cNvPr id="50" name="shape50"/>
          <p:cNvSpPr/>
          <p:nvPr/>
        </p:nvSpPr>
        <p:spPr>
          <a:xfrm>
            <a:off x="8200000" y="2100000"/>
            <a:ext cx="1800000" cy="105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51"/>
          <p:cNvSpPr txBox="1"/>
          <p:nvPr/>
        </p:nvSpPr>
        <p:spPr>
          <a:xfrm>
            <a:off x="8330000" y="2230000"/>
            <a:ext cx="1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Agent / LLM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8330000" y="2540000"/>
            <a:ext cx="154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理解语言｜选择获准工具｜输出结构化提案</a:t>
            </a:r>
          </a:p>
        </p:txBody>
      </p:sp>
      <p:sp>
        <p:nvSpPr>
          <p:cNvPr id="60" name="shape60"/>
          <p:cNvSpPr/>
          <p:nvPr/>
        </p:nvSpPr>
        <p:spPr>
          <a:xfrm>
            <a:off x="10600000" y="2100000"/>
            <a:ext cx="1250000" cy="10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ext61"/>
          <p:cNvSpPr txBox="1"/>
          <p:nvPr/>
        </p:nvSpPr>
        <p:spPr>
          <a:xfrm>
            <a:off x="10730000" y="2230000"/>
            <a:ext cx="99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工具注册表</a:t>
            </a:r>
          </a:p>
        </p:txBody>
      </p:sp>
      <p:sp>
        <p:nvSpPr>
          <p:cNvPr id="62" name="text62"/>
          <p:cNvSpPr txBox="1"/>
          <p:nvPr/>
        </p:nvSpPr>
        <p:spPr>
          <a:xfrm>
            <a:off x="10730000" y="2540000"/>
            <a:ext cx="99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白名单｜Schema｜执行｜投影｜截断｜记账</a:t>
            </a:r>
          </a:p>
        </p:txBody>
      </p:sp>
      <p:sp>
        <p:nvSpPr>
          <p:cNvPr id="70" name="arrow70"/>
          <p:cNvSpPr/>
          <p:nvPr/>
        </p:nvSpPr>
        <p:spPr>
          <a:xfrm rot="5400000">
            <a:off x="6550000" y="3450000"/>
            <a:ext cx="800000" cy="1"/>
          </a:xfrm>
          <a:prstGeom prst="line">
            <a:avLst/>
          </a:prstGeom>
          <a:ln w="18000">
            <a:solidFill>
              <a:srgbClr val="FFC857"/>
            </a:solidFill>
            <a:tailEnd type="triangle"/>
          </a:ln>
        </p:spPr>
        <p:txBody>
          <a:bodyPr/>
          <a:lstStyle/>
          <a:p/>
        </p:txBody>
      </p:sp>
      <p:sp>
        <p:nvSpPr>
          <p:cNvPr id="80" name="shape80"/>
          <p:cNvSpPr/>
          <p:nvPr/>
        </p:nvSpPr>
        <p:spPr>
          <a:xfrm>
            <a:off x="4650000" y="4300000"/>
            <a:ext cx="3400000" cy="9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text81"/>
          <p:cNvSpPr txBox="1"/>
          <p:nvPr/>
        </p:nvSpPr>
        <p:spPr>
          <a:xfrm>
            <a:off x="4780000" y="4430000"/>
            <a:ext cx="31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确定性排产核心</a:t>
            </a:r>
          </a:p>
        </p:txBody>
      </p:sp>
      <p:sp>
        <p:nvSpPr>
          <p:cNvPr id="82" name="text82"/>
          <p:cNvSpPr txBox="1"/>
          <p:nvPr/>
        </p:nvSpPr>
        <p:spPr>
          <a:xfrm>
            <a:off x="4780000" y="4740000"/>
            <a:ext cx="31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约束校验｜排程｜风险扫描｜情景模拟｜影响比较</a:t>
            </a:r>
          </a:p>
        </p:txBody>
      </p:sp>
      <p:sp>
        <p:nvSpPr>
          <p:cNvPr id="90" name="arrow90"/>
          <p:cNvSpPr/>
          <p:nvPr/>
        </p:nvSpPr>
        <p:spPr>
          <a:xfrm>
            <a:off x="8100000" y="4750000"/>
            <a:ext cx="800000" cy="1"/>
          </a:xfrm>
          <a:prstGeom prst="line">
            <a:avLst/>
          </a:prstGeom>
          <a:ln w="18000">
            <a:solidFill>
              <a:srgbClr val="FFC857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0" name="shape100"/>
          <p:cNvSpPr/>
          <p:nvPr/>
        </p:nvSpPr>
        <p:spPr>
          <a:xfrm>
            <a:off x="9000000" y="4300000"/>
            <a:ext cx="2600000" cy="900000"/>
          </a:xfrm>
          <a:prstGeom prst="roundRect">
            <a:avLst/>
          </a:prstGeom>
          <a:solidFill>
            <a:srgbClr val="5C3D1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ext101"/>
          <p:cNvSpPr txBox="1"/>
          <p:nvPr/>
        </p:nvSpPr>
        <p:spPr>
          <a:xfrm>
            <a:off x="9130000" y="4430000"/>
            <a:ext cx="2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计划治理</a:t>
            </a:r>
          </a:p>
        </p:txBody>
      </p:sp>
      <p:sp>
        <p:nvSpPr>
          <p:cNvPr id="102" name="text102"/>
          <p:cNvSpPr txBox="1"/>
          <p:nvPr/>
        </p:nvSpPr>
        <p:spPr>
          <a:xfrm>
            <a:off x="9130000" y="4740000"/>
            <a:ext cx="23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PENDING_APPROVAL → APPROVE / MODIFY / REJECT → ACTIVE</a:t>
            </a:r>
          </a:p>
        </p:txBody>
      </p:sp>
      <p:sp>
        <p:nvSpPr>
          <p:cNvPr id="110" name="text110"/>
          <p:cNvSpPr txBox="1"/>
          <p:nvPr/>
        </p:nvSpPr>
        <p:spPr>
          <a:xfrm>
            <a:off x="1850000" y="555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500" b="0">
                <a:solidFill>
                  <a:srgbClr val="B8CAD7"/>
                </a:solidFill>
                <a:latin typeface="Aptos"/>
                <a:ea typeface="Microsoft YaHei"/>
              </a:rPr>
              <a:t>Trace、审计日志、版本号贯穿全流程，为每一次建议保留证据。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模型调用的上下文：由系统状态驱动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每一轮都重新装配与当前任务相关的事实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06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650000" y="2000000"/>
            <a:ext cx="2800000" cy="10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11"/>
          <p:cNvSpPr txBox="1"/>
          <p:nvPr/>
        </p:nvSpPr>
        <p:spPr>
          <a:xfrm>
            <a:off x="780000" y="2130000"/>
            <a:ext cx="2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SessionState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780000" y="2440000"/>
            <a:ext cx="2540000" cy="5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active_plan｜pending_plan｜last_disruption｜已启用偏好｜degraded mode</a:t>
            </a:r>
          </a:p>
        </p:txBody>
      </p:sp>
      <p:sp>
        <p:nvSpPr>
          <p:cNvPr id="20" name="shape20"/>
          <p:cNvSpPr/>
          <p:nvPr/>
        </p:nvSpPr>
        <p:spPr>
          <a:xfrm>
            <a:off x="650000" y="3450000"/>
            <a:ext cx="2800000" cy="9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780000" y="3580000"/>
            <a:ext cx="2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工具观察历史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780000" y="3890000"/>
            <a:ext cx="25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早期结果：每条压缩为一行摘要</a:t>
            </a:r>
          </a:p>
        </p:txBody>
      </p:sp>
      <p:sp>
        <p:nvSpPr>
          <p:cNvPr id="30" name="shape30"/>
          <p:cNvSpPr/>
          <p:nvPr/>
        </p:nvSpPr>
        <p:spPr>
          <a:xfrm>
            <a:off x="650000" y="4700000"/>
            <a:ext cx="2800000" cy="9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780000" y="4830000"/>
            <a:ext cx="2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最近两条观察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780000" y="5140000"/>
            <a:ext cx="25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保留完整的结构化工具结果；不可信内容加 &lt;untrusted&gt; 包装</a:t>
            </a:r>
          </a:p>
        </p:txBody>
      </p:sp>
      <p:sp>
        <p:nvSpPr>
          <p:cNvPr id="40" name="arrow40"/>
          <p:cNvSpPr/>
          <p:nvPr/>
        </p:nvSpPr>
        <p:spPr>
          <a:xfrm>
            <a:off x="3700000" y="2600000"/>
            <a:ext cx="9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41" name="arrow41"/>
          <p:cNvSpPr/>
          <p:nvPr/>
        </p:nvSpPr>
        <p:spPr>
          <a:xfrm>
            <a:off x="3700000" y="3900000"/>
            <a:ext cx="9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42" name="arrow42"/>
          <p:cNvSpPr/>
          <p:nvPr/>
        </p:nvSpPr>
        <p:spPr>
          <a:xfrm>
            <a:off x="3700000" y="5150000"/>
            <a:ext cx="9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50" name="shape50"/>
          <p:cNvSpPr/>
          <p:nvPr/>
        </p:nvSpPr>
        <p:spPr>
          <a:xfrm>
            <a:off x="4850000" y="3050000"/>
            <a:ext cx="2600000" cy="125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51"/>
          <p:cNvSpPr txBox="1"/>
          <p:nvPr/>
        </p:nvSpPr>
        <p:spPr>
          <a:xfrm>
            <a:off x="4980000" y="3180000"/>
            <a:ext cx="2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Context Manager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4980000" y="3490000"/>
            <a:ext cx="234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固定顺序组装：运行状态｜历史摘要｜最近观察｜任务块</a:t>
            </a:r>
          </a:p>
        </p:txBody>
      </p:sp>
      <p:sp>
        <p:nvSpPr>
          <p:cNvPr id="60" name="arrow60"/>
          <p:cNvSpPr/>
          <p:nvPr/>
        </p:nvSpPr>
        <p:spPr>
          <a:xfrm>
            <a:off x="7550000" y="3670000"/>
            <a:ext cx="10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70" name="shape70"/>
          <p:cNvSpPr/>
          <p:nvPr/>
        </p:nvSpPr>
        <p:spPr>
          <a:xfrm>
            <a:off x="8700000" y="3050000"/>
            <a:ext cx="2700000" cy="12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text71"/>
          <p:cNvSpPr txBox="1"/>
          <p:nvPr/>
        </p:nvSpPr>
        <p:spPr>
          <a:xfrm>
            <a:off x="8830000" y="3180000"/>
            <a:ext cx="24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一次 LLM 请求</a:t>
            </a:r>
          </a:p>
        </p:txBody>
      </p:sp>
      <p:sp>
        <p:nvSpPr>
          <p:cNvPr id="72" name="text72"/>
          <p:cNvSpPr txBox="1"/>
          <p:nvPr/>
        </p:nvSpPr>
        <p:spPr>
          <a:xfrm>
            <a:off x="8830000" y="3490000"/>
            <a:ext cx="244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静态提示词 + 工具 Schema；动态消息只包含本轮必要上下文</a:t>
            </a:r>
          </a:p>
        </p:txBody>
      </p:sp>
      <p:sp>
        <p:nvSpPr>
          <p:cNvPr id="80" name="text80"/>
          <p:cNvSpPr txBox="1"/>
          <p:nvPr/>
        </p:nvSpPr>
        <p:spPr>
          <a:xfrm>
            <a:off x="1550000" y="5650000"/>
            <a:ext cx="9000000" cy="2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C857"/>
                </a:solidFill>
                <a:latin typeface="Aptos"/>
                <a:ea typeface="Microsoft YaHei"/>
              </a:rPr>
              <a:t>上下文连续性来自运行状态与工具观察。RAG 未作为本项目主流程组件。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三个 Agent：按输入可信度与权限划分职责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交接通过 Pydantic 输出契约进行校验与留痕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07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700000" y="2050000"/>
            <a:ext cx="3450000" cy="17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11"/>
          <p:cNvSpPr/>
          <p:nvPr/>
        </p:nvSpPr>
        <p:spPr>
          <a:xfrm>
            <a:off x="700000" y="2050000"/>
            <a:ext cx="65000" cy="170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12"/>
          <p:cNvSpPr txBox="1"/>
          <p:nvPr/>
        </p:nvSpPr>
        <p:spPr>
          <a:xfrm>
            <a:off x="880000" y="2200000"/>
            <a:ext cx="3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Ingestion Agent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880000" y="2570000"/>
            <a:ext cx="3110000" cy="11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面对外部表格。只能预览、映射、校验、创建导入批次；映射结果进入人工确认。</a:t>
            </a:r>
          </a:p>
        </p:txBody>
      </p:sp>
      <p:sp>
        <p:nvSpPr>
          <p:cNvPr id="20" name="shape20"/>
          <p:cNvSpPr/>
          <p:nvPr/>
        </p:nvSpPr>
        <p:spPr>
          <a:xfrm>
            <a:off x="4350000" y="2050000"/>
            <a:ext cx="3450000" cy="17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21"/>
          <p:cNvSpPr/>
          <p:nvPr/>
        </p:nvSpPr>
        <p:spPr>
          <a:xfrm>
            <a:off x="4350000" y="2050000"/>
            <a:ext cx="65000" cy="170000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22"/>
          <p:cNvSpPr txBox="1"/>
          <p:nvPr/>
        </p:nvSpPr>
        <p:spPr>
          <a:xfrm>
            <a:off x="4530000" y="2200000"/>
            <a:ext cx="3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Planning Agent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4530000" y="2570000"/>
            <a:ext cx="3110000" cy="11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面对扰动与计划。读取业务事实、调用计算工具、形成重排提案；没有激活计划的权限。</a:t>
            </a:r>
          </a:p>
        </p:txBody>
      </p:sp>
      <p:sp>
        <p:nvSpPr>
          <p:cNvPr id="30" name="shape30"/>
          <p:cNvSpPr/>
          <p:nvPr/>
        </p:nvSpPr>
        <p:spPr>
          <a:xfrm>
            <a:off x="8000000" y="2050000"/>
            <a:ext cx="3450000" cy="17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31"/>
          <p:cNvSpPr/>
          <p:nvPr/>
        </p:nvSpPr>
        <p:spPr>
          <a:xfrm>
            <a:off x="8000000" y="2050000"/>
            <a:ext cx="65000" cy="1700000"/>
          </a:xfrm>
          <a:prstGeom prst="rect">
            <a:avLst/>
          </a:prstGeom>
          <a:solidFill>
            <a:srgbClr val="8E7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32"/>
          <p:cNvSpPr txBox="1"/>
          <p:nvPr/>
        </p:nvSpPr>
        <p:spPr>
          <a:xfrm>
            <a:off x="8180000" y="2200000"/>
            <a:ext cx="31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Risk Monitor Agent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8180000" y="2570000"/>
            <a:ext cx="3110000" cy="11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读取事实并触发风险扫描，生成风险归因叙述；不持有写入工具。</a:t>
            </a:r>
          </a:p>
        </p:txBody>
      </p:sp>
      <p:sp>
        <p:nvSpPr>
          <p:cNvPr id="40" name="arrow40"/>
          <p:cNvSpPr/>
          <p:nvPr/>
        </p:nvSpPr>
        <p:spPr>
          <a:xfrm>
            <a:off x="2500000" y="4150000"/>
            <a:ext cx="780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50" name="shape50"/>
          <p:cNvSpPr/>
          <p:nvPr/>
        </p:nvSpPr>
        <p:spPr>
          <a:xfrm>
            <a:off x="2800000" y="4550000"/>
            <a:ext cx="6500000" cy="82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51"/>
          <p:cNvSpPr txBox="1"/>
          <p:nvPr/>
        </p:nvSpPr>
        <p:spPr>
          <a:xfrm>
            <a:off x="2930000" y="4680000"/>
            <a:ext cx="62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Handoff Contract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2930000" y="4990000"/>
            <a:ext cx="6240000" cy="3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声明字段｜extra=forbid｜不可变实例｜自由文本标记为 untrusted</a:t>
            </a:r>
          </a:p>
        </p:txBody>
      </p:sp>
      <p:sp>
        <p:nvSpPr>
          <p:cNvPr id="60" name="text60"/>
          <p:cNvSpPr txBox="1"/>
          <p:nvPr/>
        </p:nvSpPr>
        <p:spPr>
          <a:xfrm>
            <a:off x="1450000" y="5650000"/>
            <a:ext cx="9200000" cy="2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C857"/>
                </a:solidFill>
                <a:latin typeface="Aptos"/>
                <a:ea typeface="Microsoft YaHei"/>
              </a:rPr>
              <a:t>权限不是写在说明文档里，而是由 Tool Registry 的不可变白名单在调用入口执行。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LLM API 在流程里承担什么工作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以受限 ReAct 循环选择下一步，每轮工具结果成为下一轮观察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08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550000" y="2350000"/>
            <a:ext cx="1500000" cy="9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11"/>
          <p:cNvSpPr txBox="1"/>
          <p:nvPr/>
        </p:nvSpPr>
        <p:spPr>
          <a:xfrm>
            <a:off x="680000" y="2480000"/>
            <a:ext cx="12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输入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680000" y="2790000"/>
            <a:ext cx="12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自然语言请求或文件预览</a:t>
            </a:r>
          </a:p>
        </p:txBody>
      </p:sp>
      <p:sp>
        <p:nvSpPr>
          <p:cNvPr id="11" name="arrow11"/>
          <p:cNvSpPr/>
          <p:nvPr/>
        </p:nvSpPr>
        <p:spPr>
          <a:xfrm>
            <a:off x="2150000" y="2800000"/>
            <a:ext cx="5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20" name="shape20"/>
          <p:cNvSpPr/>
          <p:nvPr/>
        </p:nvSpPr>
        <p:spPr>
          <a:xfrm>
            <a:off x="2800000" y="2350000"/>
            <a:ext cx="1800000" cy="90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2930000" y="2480000"/>
            <a:ext cx="1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LLM 输出 JSON 动作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930000" y="2790000"/>
            <a:ext cx="15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tool + arguments，或 final 契约</a:t>
            </a:r>
          </a:p>
        </p:txBody>
      </p:sp>
      <p:sp>
        <p:nvSpPr>
          <p:cNvPr id="21" name="arrow21"/>
          <p:cNvSpPr/>
          <p:nvPr/>
        </p:nvSpPr>
        <p:spPr>
          <a:xfrm>
            <a:off x="4750000" y="2800000"/>
            <a:ext cx="5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30" name="shape30"/>
          <p:cNvSpPr/>
          <p:nvPr/>
        </p:nvSpPr>
        <p:spPr>
          <a:xfrm>
            <a:off x="5400000" y="2200000"/>
            <a:ext cx="2400000" cy="12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5530000" y="2330000"/>
            <a:ext cx="21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Tool Registry 七道闸门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5530000" y="2640000"/>
            <a:ext cx="214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白名单 → 输入 Schema → 执行 → 输出 Schema → 投影 → 截断 → 记账</a:t>
            </a:r>
          </a:p>
        </p:txBody>
      </p:sp>
      <p:sp>
        <p:nvSpPr>
          <p:cNvPr id="31" name="arrow31"/>
          <p:cNvSpPr/>
          <p:nvPr/>
        </p:nvSpPr>
        <p:spPr>
          <a:xfrm>
            <a:off x="8550000" y="2800000"/>
            <a:ext cx="55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40" name="shape40"/>
          <p:cNvSpPr/>
          <p:nvPr/>
        </p:nvSpPr>
        <p:spPr>
          <a:xfrm>
            <a:off x="9200000" y="2350000"/>
            <a:ext cx="1800000" cy="9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41"/>
          <p:cNvSpPr txBox="1"/>
          <p:nvPr/>
        </p:nvSpPr>
        <p:spPr>
          <a:xfrm>
            <a:off x="9330000" y="2480000"/>
            <a:ext cx="15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确定性工具结果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9330000" y="2790000"/>
            <a:ext cx="154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排程、约束、风险、模拟等结构化事实</a:t>
            </a:r>
          </a:p>
        </p:txBody>
      </p:sp>
      <p:sp>
        <p:nvSpPr>
          <p:cNvPr id="60" name="text60"/>
          <p:cNvSpPr txBox="1"/>
          <p:nvPr/>
        </p:nvSpPr>
        <p:spPr>
          <a:xfrm>
            <a:off x="2500000" y="4200000"/>
            <a:ext cx="76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550" b="1">
                <a:solidFill>
                  <a:srgbClr val="FFC857"/>
                </a:solidFill>
                <a:latin typeface="Aptos"/>
                <a:ea typeface="Microsoft YaHei"/>
              </a:rPr>
              <a:t>循环控制：工具结果返回 Context Manager → 下一轮只基于最新事实决定下一步。</a:t>
            </a:r>
          </a:p>
        </p:txBody>
      </p:sp>
      <p:sp>
        <p:nvSpPr>
          <p:cNvPr id="70" name="text70"/>
          <p:cNvSpPr txBox="1"/>
          <p:nvPr/>
        </p:nvSpPr>
        <p:spPr>
          <a:xfrm>
            <a:off x="1100000" y="5100000"/>
            <a:ext cx="10000000" cy="3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750" b="1">
                <a:solidFill>
                  <a:srgbClr val="FFFFFF"/>
                </a:solidFill>
                <a:latin typeface="Aptos"/>
                <a:ea typeface="Microsoft YaHei"/>
              </a:rPr>
              <a:t>LLM 负责：翻译、解释、选择工具、生成受限格式。   确定性服务负责：数值、约束、状态变迁。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进入主线演示：CNC-01 明天上午停机 6 小时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用一条“车间突发事件”串起前面的技术层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09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10"/>
          <p:cNvSpPr txBox="1"/>
          <p:nvPr/>
        </p:nvSpPr>
        <p:spPr>
          <a:xfrm>
            <a:off x="900000" y="1650000"/>
            <a:ext cx="102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500" b="0">
                <a:solidFill>
                  <a:srgbClr val="D3E3EC"/>
                </a:solidFill>
                <a:latin typeface="Aptos"/>
                <a:ea typeface="Microsoft YaHei"/>
              </a:rPr>
              <a:t>基线状态：当前计划已处于 ACTIVE，订单、物料、机器和工人组成一个可重放的生产快照。</a:t>
            </a:r>
          </a:p>
        </p:txBody>
      </p:sp>
      <p:sp>
        <p:nvSpPr>
          <p:cNvPr id="20" name="arrow20"/>
          <p:cNvSpPr/>
          <p:nvPr/>
        </p:nvSpPr>
        <p:spPr>
          <a:xfrm>
            <a:off x="1300000" y="3300000"/>
            <a:ext cx="980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30" name="shape30"/>
          <p:cNvSpPr/>
          <p:nvPr/>
        </p:nvSpPr>
        <p:spPr>
          <a:xfrm>
            <a:off x="750000" y="2650000"/>
            <a:ext cx="1600000" cy="10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880000" y="2780000"/>
            <a:ext cx="1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① 基线计划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880000" y="3090000"/>
            <a:ext cx="1340000" cy="5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Dashboard / Schedule</a:t>
            </a:r>
          </a:p>
        </p:txBody>
      </p:sp>
      <p:sp>
        <p:nvSpPr>
          <p:cNvPr id="40" name="shape40"/>
          <p:cNvSpPr/>
          <p:nvPr/>
        </p:nvSpPr>
        <p:spPr>
          <a:xfrm>
            <a:off x="2800000" y="2650000"/>
            <a:ext cx="1600000" cy="10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41"/>
          <p:cNvSpPr txBox="1"/>
          <p:nvPr/>
        </p:nvSpPr>
        <p:spPr>
          <a:xfrm>
            <a:off x="2930000" y="2780000"/>
            <a:ext cx="1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② 描述停机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2930000" y="3090000"/>
            <a:ext cx="1340000" cy="5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What-if 自然语言</a:t>
            </a:r>
          </a:p>
        </p:txBody>
      </p:sp>
      <p:sp>
        <p:nvSpPr>
          <p:cNvPr id="50" name="shape50"/>
          <p:cNvSpPr/>
          <p:nvPr/>
        </p:nvSpPr>
        <p:spPr>
          <a:xfrm>
            <a:off x="4850000" y="2650000"/>
            <a:ext cx="1600000" cy="100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51"/>
          <p:cNvSpPr txBox="1"/>
          <p:nvPr/>
        </p:nvSpPr>
        <p:spPr>
          <a:xfrm>
            <a:off x="4980000" y="2780000"/>
            <a:ext cx="1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③ 确认场景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4980000" y="3090000"/>
            <a:ext cx="1340000" cy="5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结构化结果确认</a:t>
            </a:r>
          </a:p>
        </p:txBody>
      </p:sp>
      <p:sp>
        <p:nvSpPr>
          <p:cNvPr id="60" name="shape60"/>
          <p:cNvSpPr/>
          <p:nvPr/>
        </p:nvSpPr>
        <p:spPr>
          <a:xfrm>
            <a:off x="6900000" y="2650000"/>
            <a:ext cx="1600000" cy="10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ext61"/>
          <p:cNvSpPr txBox="1"/>
          <p:nvPr/>
        </p:nvSpPr>
        <p:spPr>
          <a:xfrm>
            <a:off x="7030000" y="2780000"/>
            <a:ext cx="1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④ 沙盒模拟</a:t>
            </a:r>
          </a:p>
        </p:txBody>
      </p:sp>
      <p:sp>
        <p:nvSpPr>
          <p:cNvPr id="62" name="text62"/>
          <p:cNvSpPr txBox="1"/>
          <p:nvPr/>
        </p:nvSpPr>
        <p:spPr>
          <a:xfrm>
            <a:off x="7030000" y="3090000"/>
            <a:ext cx="1340000" cy="5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比较影响，原计划不变</a:t>
            </a:r>
          </a:p>
        </p:txBody>
      </p:sp>
      <p:sp>
        <p:nvSpPr>
          <p:cNvPr id="70" name="shape70"/>
          <p:cNvSpPr/>
          <p:nvPr/>
        </p:nvSpPr>
        <p:spPr>
          <a:xfrm>
            <a:off x="8950000" y="2650000"/>
            <a:ext cx="1600000" cy="1000000"/>
          </a:xfrm>
          <a:prstGeom prst="roundRect">
            <a:avLst/>
          </a:prstGeom>
          <a:solidFill>
            <a:srgbClr val="5C3D1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text71"/>
          <p:cNvSpPr txBox="1"/>
          <p:nvPr/>
        </p:nvSpPr>
        <p:spPr>
          <a:xfrm>
            <a:off x="9080000" y="2780000"/>
            <a:ext cx="13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⑤ 提案审批</a:t>
            </a:r>
          </a:p>
        </p:txBody>
      </p:sp>
      <p:sp>
        <p:nvSpPr>
          <p:cNvPr id="72" name="text72"/>
          <p:cNvSpPr txBox="1"/>
          <p:nvPr/>
        </p:nvSpPr>
        <p:spPr>
          <a:xfrm>
            <a:off x="9080000" y="3090000"/>
            <a:ext cx="1340000" cy="5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计划员决定是否生效</a:t>
            </a:r>
          </a:p>
        </p:txBody>
      </p:sp>
      <p:sp>
        <p:nvSpPr>
          <p:cNvPr id="80" name="text80"/>
          <p:cNvSpPr txBox="1"/>
          <p:nvPr/>
        </p:nvSpPr>
        <p:spPr>
          <a:xfrm>
            <a:off x="2200000" y="4700000"/>
            <a:ext cx="7800000" cy="3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900" b="1">
                <a:solidFill>
                  <a:srgbClr val="FFC857"/>
                </a:solidFill>
                <a:latin typeface="Aptos"/>
                <a:ea typeface="Microsoft YaHei"/>
              </a:rPr>
              <a:t>录像中每一个页面只承担这条主线的一个环节。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演示步骤 1：先建立可信基线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录屏 01｜Dashboard → Schedule → Approval｜约 3 分钟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10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650000" y="1750000"/>
            <a:ext cx="7100000" cy="36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11"/>
          <p:cNvSpPr txBox="1"/>
          <p:nvPr/>
        </p:nvSpPr>
        <p:spPr>
          <a:xfrm>
            <a:off x="1000000" y="3400000"/>
            <a:ext cx="6400000" cy="3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Aptos"/>
                <a:ea typeface="Microsoft YaHei"/>
              </a:rPr>
              <a:t>插入录屏 01：查看 Dashboard，生成计划，展示甘特图与 FCFS 对比，批准为 ACTIVE。</a:t>
            </a:r>
          </a:p>
        </p:txBody>
      </p:sp>
      <p:sp>
        <p:nvSpPr>
          <p:cNvPr id="20" name="shape20"/>
          <p:cNvSpPr/>
          <p:nvPr/>
        </p:nvSpPr>
        <p:spPr>
          <a:xfrm>
            <a:off x="8300000" y="1950000"/>
            <a:ext cx="3250000" cy="13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21"/>
          <p:cNvSpPr/>
          <p:nvPr/>
        </p:nvSpPr>
        <p:spPr>
          <a:xfrm>
            <a:off x="8300000" y="1950000"/>
            <a:ext cx="65000" cy="135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22"/>
          <p:cNvSpPr txBox="1"/>
          <p:nvPr/>
        </p:nvSpPr>
        <p:spPr>
          <a:xfrm>
            <a:off x="8480000" y="2100000"/>
            <a:ext cx="29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页面上要证明什么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8480000" y="2470000"/>
            <a:ext cx="291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计划来自订单、物料、机器、工人的快照；排程内核将作业分成 scheduled 与 unschedulable，并给出阻塞原因。</a:t>
            </a:r>
          </a:p>
        </p:txBody>
      </p:sp>
      <p:sp>
        <p:nvSpPr>
          <p:cNvPr id="30" name="shape30"/>
          <p:cNvSpPr/>
          <p:nvPr/>
        </p:nvSpPr>
        <p:spPr>
          <a:xfrm>
            <a:off x="8300000" y="3550000"/>
            <a:ext cx="3250000" cy="13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31"/>
          <p:cNvSpPr/>
          <p:nvPr/>
        </p:nvSpPr>
        <p:spPr>
          <a:xfrm>
            <a:off x="8300000" y="3550000"/>
            <a:ext cx="65000" cy="135000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32"/>
          <p:cNvSpPr txBox="1"/>
          <p:nvPr/>
        </p:nvSpPr>
        <p:spPr>
          <a:xfrm>
            <a:off x="8480000" y="3700000"/>
            <a:ext cx="29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此刻对应的技术层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8480000" y="4070000"/>
            <a:ext cx="2910000" cy="7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FastAPI 接收请求；确定性 Scheduler 计算计划；Approval 状态机将提案变为 ACTIVE。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1250000" y="5650000"/>
            <a:ext cx="8800000" cy="2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C857"/>
                </a:solidFill>
                <a:latin typeface="Aptos"/>
                <a:ea typeface="Microsoft YaHei"/>
              </a:rPr>
              <a:t>配音重点：先让评委看见“当前事实”和“约束下的基线”，后面的所有影响都以此为参照。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0" name="image50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500000"/>
            <a:ext cx="12192000" cy="4700000"/>
          </a:xfrm>
          <a:prstGeom prst="rect">
            <a:avLst/>
          </a:prstGeom>
        </p:spPr>
      </p:pic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演示步骤 2：用自然语言描述突发事件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录屏 02｜What-if 翻译与结构化确认｜约 2 分钟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11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700000" y="2100000"/>
            <a:ext cx="4900000" cy="6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11"/>
          <p:cNvSpPr txBox="1"/>
          <p:nvPr/>
        </p:nvSpPr>
        <p:spPr>
          <a:xfrm>
            <a:off x="1000000" y="2310000"/>
            <a:ext cx="4400000" cy="19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  <a:ea typeface="Microsoft YaHei"/>
              </a:rPr>
              <a:t>计划员输入：CNC-01 明天上午停机 6 小时</a:t>
            </a:r>
          </a:p>
        </p:txBody>
      </p:sp>
      <p:sp>
        <p:nvSpPr>
          <p:cNvPr id="12" name="arrow12"/>
          <p:cNvSpPr/>
          <p:nvPr/>
        </p:nvSpPr>
        <p:spPr>
          <a:xfrm>
            <a:off x="2650000" y="2920000"/>
            <a:ext cx="650000" cy="1"/>
          </a:xfrm>
          <a:prstGeom prst="line">
            <a:avLst/>
          </a:prstGeom>
          <a:ln w="18000">
            <a:solidFill>
              <a:srgbClr val="FFC857"/>
            </a:solidFill>
            <a:tailEnd type="triangle"/>
          </a:ln>
        </p:spPr>
        <p:txBody>
          <a:bodyPr/>
          <a:lstStyle/>
          <a:p/>
        </p:txBody>
      </p:sp>
      <p:sp>
        <p:nvSpPr>
          <p:cNvPr id="20" name="shape20"/>
          <p:cNvSpPr/>
          <p:nvPr/>
        </p:nvSpPr>
        <p:spPr>
          <a:xfrm>
            <a:off x="700000" y="3150000"/>
            <a:ext cx="4900000" cy="10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900000" y="3460000"/>
            <a:ext cx="4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00" b="1">
                <a:solidFill>
                  <a:srgbClr val="CFE6E4"/>
                </a:solidFill>
                <a:latin typeface="Aptos"/>
                <a:ea typeface="Microsoft YaHei"/>
              </a:rPr>
              <a:t>结构化预览：machine_id = CNC-01；start = 2026-03-03 08:00；end = 14:00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700000" y="4550000"/>
            <a:ext cx="50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500" b="1">
                <a:solidFill>
                  <a:srgbClr val="FFC857"/>
                </a:solidFill>
                <a:latin typeface="Aptos"/>
                <a:ea typeface="Microsoft YaHei"/>
              </a:rPr>
              <a:t>LLM 的职责：从自然语言提取封闭场景变更，输出 JSON，交给计划员确认。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700000" y="5000000"/>
            <a:ext cx="5000000" cy="2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D3E3EC"/>
                </a:solidFill>
                <a:latin typeface="Aptos"/>
                <a:ea typeface="Microsoft YaHei"/>
              </a:rPr>
              <a:t>LIVE 模式下展示真实模型调用；模型不可用时，切换为结构化表单并明确标注降级状态。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演示步骤 3：在沙盒里计算影响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录屏 03｜Run simulation → Compare plans｜约 2 分钟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12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800000" y="2350000"/>
            <a:ext cx="2400000" cy="110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11"/>
          <p:cNvSpPr txBox="1"/>
          <p:nvPr/>
        </p:nvSpPr>
        <p:spPr>
          <a:xfrm>
            <a:off x="930000" y="2480000"/>
            <a:ext cx="21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当前 ACTIVE 计划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930000" y="2790000"/>
            <a:ext cx="21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正式生产计划保持不变</a:t>
            </a:r>
          </a:p>
        </p:txBody>
      </p:sp>
      <p:sp>
        <p:nvSpPr>
          <p:cNvPr id="11" name="arrow11"/>
          <p:cNvSpPr/>
          <p:nvPr/>
        </p:nvSpPr>
        <p:spPr>
          <a:xfrm>
            <a:off x="3450000" y="2900000"/>
            <a:ext cx="850000" cy="1"/>
          </a:xfrm>
          <a:prstGeom prst="line">
            <a:avLst/>
          </a:prstGeom>
          <a:ln w="18000">
            <a:solidFill>
              <a:srgbClr val="FFC857"/>
            </a:solidFill>
            <a:tailEnd type="triangle"/>
          </a:ln>
        </p:spPr>
        <p:txBody>
          <a:bodyPr/>
          <a:lstStyle/>
          <a:p/>
        </p:txBody>
      </p:sp>
      <p:sp>
        <p:nvSpPr>
          <p:cNvPr id="20" name="shape20"/>
          <p:cNvSpPr/>
          <p:nvPr/>
        </p:nvSpPr>
        <p:spPr>
          <a:xfrm>
            <a:off x="4500000" y="2350000"/>
            <a:ext cx="2400000" cy="1100000"/>
          </a:xfrm>
          <a:prstGeom prst="roundRect">
            <a:avLst/>
          </a:prstGeom>
          <a:solidFill>
            <a:srgbClr val="5C3D1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4630000" y="2480000"/>
            <a:ext cx="21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Sandbox Scenario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4630000" y="2790000"/>
            <a:ext cx="21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临时加入 CNC-01 停机窗口</a:t>
            </a:r>
          </a:p>
        </p:txBody>
      </p:sp>
      <p:sp>
        <p:nvSpPr>
          <p:cNvPr id="21" name="arrow21"/>
          <p:cNvSpPr/>
          <p:nvPr/>
        </p:nvSpPr>
        <p:spPr>
          <a:xfrm>
            <a:off x="7150000" y="2900000"/>
            <a:ext cx="850000" cy="1"/>
          </a:xfrm>
          <a:prstGeom prst="line">
            <a:avLst/>
          </a:prstGeom>
          <a:ln w="18000">
            <a:solidFill>
              <a:srgbClr val="FFC857"/>
            </a:solidFill>
            <a:tailEnd type="triangle"/>
          </a:ln>
        </p:spPr>
        <p:txBody>
          <a:bodyPr/>
          <a:lstStyle/>
          <a:p/>
        </p:txBody>
      </p:sp>
      <p:sp>
        <p:nvSpPr>
          <p:cNvPr id="30" name="shape30"/>
          <p:cNvSpPr/>
          <p:nvPr/>
        </p:nvSpPr>
        <p:spPr>
          <a:xfrm>
            <a:off x="8200000" y="2350000"/>
            <a:ext cx="3000000" cy="110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8330000" y="2480000"/>
            <a:ext cx="27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确定性核心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8330000" y="2790000"/>
            <a:ext cx="274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run_scenario + evaluate + compare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1300000" y="4150000"/>
            <a:ext cx="9300000" cy="3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750" b="1">
                <a:solidFill>
                  <a:srgbClr val="FFFFFF"/>
                </a:solidFill>
                <a:latin typeface="Aptos"/>
                <a:ea typeface="Microsoft YaHei"/>
              </a:rPr>
              <a:t>录屏画面：先展示延迟、不可排产或目标差值，再回到 Dashboard，确认 ACTIVE 计划没有被改写。</a:t>
            </a:r>
          </a:p>
        </p:txBody>
      </p:sp>
      <p:sp>
        <p:nvSpPr>
          <p:cNvPr id="50" name="shape50"/>
          <p:cNvSpPr/>
          <p:nvPr/>
        </p:nvSpPr>
        <p:spPr>
          <a:xfrm>
            <a:off x="2900000" y="5000000"/>
            <a:ext cx="6200000" cy="7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hape51"/>
          <p:cNvSpPr/>
          <p:nvPr/>
        </p:nvSpPr>
        <p:spPr>
          <a:xfrm>
            <a:off x="2900000" y="5000000"/>
            <a:ext cx="65000" cy="75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52"/>
          <p:cNvSpPr txBox="1"/>
          <p:nvPr/>
        </p:nvSpPr>
        <p:spPr>
          <a:xfrm>
            <a:off x="3080000" y="5150000"/>
            <a:ext cx="58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技术解释</a:t>
            </a:r>
          </a:p>
        </p:txBody>
      </p:sp>
      <p:sp>
        <p:nvSpPr>
          <p:cNvPr id="53" name="text53"/>
          <p:cNvSpPr txBox="1"/>
          <p:nvPr/>
        </p:nvSpPr>
        <p:spPr>
          <a:xfrm>
            <a:off x="3080000" y="5520000"/>
            <a:ext cx="5860000" cy="1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情景推演读写隔离。模拟结果只是提案的证据，不会污染正式计划。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演示步骤 4：从模拟结论到正式提案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录屏 04｜Generate formal proposal → Approval｜约 2 分钟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13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arrow10"/>
          <p:cNvSpPr/>
          <p:nvPr/>
        </p:nvSpPr>
        <p:spPr>
          <a:xfrm>
            <a:off x="2100000" y="3250000"/>
            <a:ext cx="7600000" cy="1"/>
          </a:xfrm>
          <a:prstGeom prst="line">
            <a:avLst/>
          </a:prstGeom>
          <a:ln w="18000">
            <a:solidFill>
              <a:srgbClr val="42C7B5"/>
            </a:solidFill>
            <a:tailEnd type="triangle"/>
          </a:ln>
        </p:spPr>
        <p:txBody>
          <a:bodyPr/>
          <a:lstStyle/>
          <a:p/>
        </p:txBody>
      </p:sp>
      <p:sp>
        <p:nvSpPr>
          <p:cNvPr id="20" name="shape20"/>
          <p:cNvSpPr/>
          <p:nvPr/>
        </p:nvSpPr>
        <p:spPr>
          <a:xfrm>
            <a:off x="900000" y="2550000"/>
            <a:ext cx="2100000" cy="11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1030000" y="2680000"/>
            <a:ext cx="18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影响评估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1030000" y="2990000"/>
            <a:ext cx="184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哪些订单、交期和资源受到影响</a:t>
            </a:r>
          </a:p>
        </p:txBody>
      </p:sp>
      <p:sp>
        <p:nvSpPr>
          <p:cNvPr id="30" name="shape30"/>
          <p:cNvSpPr/>
          <p:nvPr/>
        </p:nvSpPr>
        <p:spPr>
          <a:xfrm>
            <a:off x="3650000" y="2550000"/>
            <a:ext cx="2100000" cy="1150000"/>
          </a:xfrm>
          <a:prstGeom prst="round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31"/>
          <p:cNvSpPr txBox="1"/>
          <p:nvPr/>
        </p:nvSpPr>
        <p:spPr>
          <a:xfrm>
            <a:off x="3780000" y="2680000"/>
            <a:ext cx="18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重排提案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3780000" y="2990000"/>
            <a:ext cx="184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保存为 PENDING_APPROVAL</a:t>
            </a:r>
          </a:p>
        </p:txBody>
      </p:sp>
      <p:sp>
        <p:nvSpPr>
          <p:cNvPr id="40" name="shape40"/>
          <p:cNvSpPr/>
          <p:nvPr/>
        </p:nvSpPr>
        <p:spPr>
          <a:xfrm>
            <a:off x="6400000" y="2550000"/>
            <a:ext cx="2100000" cy="1150000"/>
          </a:xfrm>
          <a:prstGeom prst="roundRect">
            <a:avLst/>
          </a:prstGeom>
          <a:solidFill>
            <a:srgbClr val="5C3D1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41"/>
          <p:cNvSpPr txBox="1"/>
          <p:nvPr/>
        </p:nvSpPr>
        <p:spPr>
          <a:xfrm>
            <a:off x="6530000" y="2680000"/>
            <a:ext cx="18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人工审批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6530000" y="2990000"/>
            <a:ext cx="184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Approve / Modify / Reject</a:t>
            </a:r>
          </a:p>
        </p:txBody>
      </p:sp>
      <p:sp>
        <p:nvSpPr>
          <p:cNvPr id="50" name="shape50"/>
          <p:cNvSpPr/>
          <p:nvPr/>
        </p:nvSpPr>
        <p:spPr>
          <a:xfrm>
            <a:off x="9150000" y="2550000"/>
            <a:ext cx="2100000" cy="115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51"/>
          <p:cNvSpPr txBox="1"/>
          <p:nvPr/>
        </p:nvSpPr>
        <p:spPr>
          <a:xfrm>
            <a:off x="9280000" y="2680000"/>
            <a:ext cx="1840000" cy="23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Aptos"/>
                <a:ea typeface="Microsoft YaHei"/>
              </a:rPr>
              <a:t>新 ACTIVE 计划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9280000" y="2990000"/>
            <a:ext cx="184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050" b="0">
                <a:solidFill>
                  <a:srgbClr val="B8CAD7"/>
                </a:solidFill>
                <a:latin typeface="Aptos"/>
                <a:ea typeface="Microsoft YaHei"/>
              </a:rPr>
              <a:t>审批后才成为正式计划</a:t>
            </a:r>
          </a:p>
        </p:txBody>
      </p:sp>
      <p:sp>
        <p:nvSpPr>
          <p:cNvPr id="60" name="text60"/>
          <p:cNvSpPr txBox="1"/>
          <p:nvPr/>
        </p:nvSpPr>
        <p:spPr>
          <a:xfrm>
            <a:off x="1700000" y="4450000"/>
            <a:ext cx="86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600" b="1">
                <a:solidFill>
                  <a:srgbClr val="FFC857"/>
                </a:solidFill>
                <a:latin typeface="Aptos"/>
                <a:ea typeface="Microsoft YaHei"/>
              </a:rPr>
              <a:t>录屏画面：展示目标分项、输入版本；尝试审批时系统再次核验约束与版本。</a:t>
            </a:r>
          </a:p>
        </p:txBody>
      </p:sp>
      <p:sp>
        <p:nvSpPr>
          <p:cNvPr id="70" name="text70"/>
          <p:cNvSpPr txBox="1"/>
          <p:nvPr/>
        </p:nvSpPr>
        <p:spPr>
          <a:xfrm>
            <a:off x="2050000" y="51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750" b="1">
                <a:solidFill>
                  <a:srgbClr val="FFFFFF"/>
                </a:solidFill>
                <a:latin typeface="Aptos"/>
                <a:ea typeface="Microsoft YaHei"/>
              </a:rPr>
              <a:t>Agent 可以准备提案和解释；批准动作由认证后的计划员端点执行。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演示步骤 5：风险、追踪与复盘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录屏 05｜Risks → Trace Viewer → Value Ledger｜约 2 分钟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14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750000" y="2050000"/>
            <a:ext cx="3300000" cy="14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11"/>
          <p:cNvSpPr/>
          <p:nvPr/>
        </p:nvSpPr>
        <p:spPr>
          <a:xfrm>
            <a:off x="750000" y="2050000"/>
            <a:ext cx="65000" cy="145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12"/>
          <p:cNvSpPr txBox="1"/>
          <p:nvPr/>
        </p:nvSpPr>
        <p:spPr>
          <a:xfrm>
            <a:off x="930000" y="2200000"/>
            <a:ext cx="29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Risk Scanner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930000" y="2570000"/>
            <a:ext cx="2960000" cy="8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展示瓶颈、物料耗尽、零缓冲订单或产能风险；风险来自确定性扫描。</a:t>
            </a:r>
          </a:p>
        </p:txBody>
      </p:sp>
      <p:sp>
        <p:nvSpPr>
          <p:cNvPr id="20" name="shape20"/>
          <p:cNvSpPr/>
          <p:nvPr/>
        </p:nvSpPr>
        <p:spPr>
          <a:xfrm>
            <a:off x="4450000" y="2050000"/>
            <a:ext cx="3300000" cy="14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21"/>
          <p:cNvSpPr/>
          <p:nvPr/>
        </p:nvSpPr>
        <p:spPr>
          <a:xfrm>
            <a:off x="4450000" y="2050000"/>
            <a:ext cx="65000" cy="145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22"/>
          <p:cNvSpPr txBox="1"/>
          <p:nvPr/>
        </p:nvSpPr>
        <p:spPr>
          <a:xfrm>
            <a:off x="4630000" y="2200000"/>
            <a:ext cx="29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Trace Viewer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4630000" y="2570000"/>
            <a:ext cx="2960000" cy="8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展示本次任务、上下文、工具调用、结果、提案和审批记录。</a:t>
            </a:r>
          </a:p>
        </p:txBody>
      </p:sp>
      <p:sp>
        <p:nvSpPr>
          <p:cNvPr id="30" name="shape30"/>
          <p:cNvSpPr/>
          <p:nvPr/>
        </p:nvSpPr>
        <p:spPr>
          <a:xfrm>
            <a:off x="8150000" y="2050000"/>
            <a:ext cx="3300000" cy="14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31"/>
          <p:cNvSpPr/>
          <p:nvPr/>
        </p:nvSpPr>
        <p:spPr>
          <a:xfrm>
            <a:off x="8150000" y="2050000"/>
            <a:ext cx="65000" cy="1450000"/>
          </a:xfrm>
          <a:prstGeom prst="rect">
            <a:avLst/>
          </a:prstGeom>
          <a:solidFill>
            <a:srgbClr val="8E7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32"/>
          <p:cNvSpPr txBox="1"/>
          <p:nvPr/>
        </p:nvSpPr>
        <p:spPr>
          <a:xfrm>
            <a:off x="8330000" y="2200000"/>
            <a:ext cx="29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Value Ledger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8330000" y="2570000"/>
            <a:ext cx="2960000" cy="8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将运行次数、审批、人工步骤与可量化指标沉淀为价值证据。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1250000" y="4300000"/>
            <a:ext cx="93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  <a:ea typeface="Microsoft YaHei"/>
              </a:rPr>
              <a:t>录屏画面：用同一个 trace_id 串起“发生了什么、系统看到了什么、调用了什么、谁做了最终决定”。</a:t>
            </a:r>
          </a:p>
        </p:txBody>
      </p:sp>
      <p:sp>
        <p:nvSpPr>
          <p:cNvPr id="50" name="text50"/>
          <p:cNvSpPr txBox="1"/>
          <p:nvPr/>
        </p:nvSpPr>
        <p:spPr>
          <a:xfrm>
            <a:off x="2300000" y="5100000"/>
            <a:ext cx="77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600" b="1">
                <a:solidFill>
                  <a:srgbClr val="FFC857"/>
                </a:solidFill>
                <a:latin typeface="Aptos"/>
                <a:ea typeface="Microsoft YaHei"/>
              </a:rPr>
              <a:t>这一步把智能体行为从一次临时交互，变成可复盘的运营记录。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从演示回看技术：每一段画面都对应一项系统证据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评委看到的不是页面巡游，而是一条可验证的决策链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15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10"/>
          <p:cNvSpPr txBox="1"/>
          <p:nvPr/>
        </p:nvSpPr>
        <p:spPr>
          <a:xfrm>
            <a:off x="850000" y="1750000"/>
            <a:ext cx="17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450" b="1">
                <a:solidFill>
                  <a:srgbClr val="42C7B5"/>
                </a:solidFill>
                <a:latin typeface="Aptos"/>
                <a:ea typeface="Microsoft YaHei"/>
              </a:rPr>
              <a:t>演示环节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3600000" y="1750000"/>
            <a:ext cx="26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450" b="1">
                <a:solidFill>
                  <a:srgbClr val="42C7B5"/>
                </a:solidFill>
                <a:latin typeface="Aptos"/>
                <a:ea typeface="Microsoft YaHei"/>
              </a:rPr>
              <a:t>背后的实现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7600000" y="1750000"/>
            <a:ext cx="28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450" b="1">
                <a:solidFill>
                  <a:srgbClr val="42C7B5"/>
                </a:solidFill>
                <a:latin typeface="Aptos"/>
                <a:ea typeface="Microsoft YaHei"/>
              </a:rPr>
              <a:t>可见证据</a:t>
            </a:r>
          </a:p>
        </p:txBody>
      </p:sp>
      <p:sp>
        <p:nvSpPr>
          <p:cNvPr id="20" name="shape20"/>
          <p:cNvSpPr/>
          <p:nvPr/>
        </p:nvSpPr>
        <p:spPr>
          <a:xfrm>
            <a:off x="650000" y="2150000"/>
            <a:ext cx="30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21"/>
          <p:cNvSpPr/>
          <p:nvPr/>
        </p:nvSpPr>
        <p:spPr>
          <a:xfrm>
            <a:off x="650000" y="2150000"/>
            <a:ext cx="65000" cy="600000"/>
          </a:xfrm>
          <a:prstGeom prst="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22"/>
          <p:cNvSpPr txBox="1"/>
          <p:nvPr/>
        </p:nvSpPr>
        <p:spPr>
          <a:xfrm>
            <a:off x="830000" y="2300000"/>
            <a:ext cx="26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基线排程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830000" y="2670000"/>
            <a:ext cx="26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确定性 Scheduler + 约束检查</a:t>
            </a:r>
          </a:p>
        </p:txBody>
      </p:sp>
      <p:sp>
        <p:nvSpPr>
          <p:cNvPr id="30" name="shape30"/>
          <p:cNvSpPr/>
          <p:nvPr/>
        </p:nvSpPr>
        <p:spPr>
          <a:xfrm>
            <a:off x="7350000" y="2150000"/>
            <a:ext cx="38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31"/>
          <p:cNvSpPr/>
          <p:nvPr/>
        </p:nvSpPr>
        <p:spPr>
          <a:xfrm>
            <a:off x="7350000" y="2150000"/>
            <a:ext cx="65000" cy="600000"/>
          </a:xfrm>
          <a:prstGeom prst="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32"/>
          <p:cNvSpPr txBox="1"/>
          <p:nvPr/>
        </p:nvSpPr>
        <p:spPr>
          <a:xfrm>
            <a:off x="7530000" y="230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甘特图、阻塞原因、FCFS 对比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7530000" y="2670000"/>
            <a:ext cx="34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/>
            </a:r>
          </a:p>
        </p:txBody>
      </p:sp>
      <p:sp>
        <p:nvSpPr>
          <p:cNvPr id="40" name="shape40"/>
          <p:cNvSpPr/>
          <p:nvPr/>
        </p:nvSpPr>
        <p:spPr>
          <a:xfrm>
            <a:off x="650000" y="2950000"/>
            <a:ext cx="30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hape41"/>
          <p:cNvSpPr/>
          <p:nvPr/>
        </p:nvSpPr>
        <p:spPr>
          <a:xfrm>
            <a:off x="650000" y="2950000"/>
            <a:ext cx="65000" cy="600000"/>
          </a:xfrm>
          <a:prstGeom prst="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42"/>
          <p:cNvSpPr txBox="1"/>
          <p:nvPr/>
        </p:nvSpPr>
        <p:spPr>
          <a:xfrm>
            <a:off x="830000" y="3100000"/>
            <a:ext cx="26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自然语言停机</a:t>
            </a:r>
          </a:p>
        </p:txBody>
      </p:sp>
      <p:sp>
        <p:nvSpPr>
          <p:cNvPr id="43" name="text43"/>
          <p:cNvSpPr txBox="1"/>
          <p:nvPr/>
        </p:nvSpPr>
        <p:spPr>
          <a:xfrm>
            <a:off x="830000" y="3470000"/>
            <a:ext cx="26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Planning Agent + Schema 契约</a:t>
            </a:r>
          </a:p>
        </p:txBody>
      </p:sp>
      <p:sp>
        <p:nvSpPr>
          <p:cNvPr id="50" name="shape50"/>
          <p:cNvSpPr/>
          <p:nvPr/>
        </p:nvSpPr>
        <p:spPr>
          <a:xfrm>
            <a:off x="7350000" y="2950000"/>
            <a:ext cx="38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hape51"/>
          <p:cNvSpPr/>
          <p:nvPr/>
        </p:nvSpPr>
        <p:spPr>
          <a:xfrm>
            <a:off x="7350000" y="2950000"/>
            <a:ext cx="65000" cy="600000"/>
          </a:xfrm>
          <a:prstGeom prst="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52"/>
          <p:cNvSpPr txBox="1"/>
          <p:nvPr/>
        </p:nvSpPr>
        <p:spPr>
          <a:xfrm>
            <a:off x="7530000" y="310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结构化场景预览与人工确认</a:t>
            </a:r>
          </a:p>
        </p:txBody>
      </p:sp>
      <p:sp>
        <p:nvSpPr>
          <p:cNvPr id="53" name="text53"/>
          <p:cNvSpPr txBox="1"/>
          <p:nvPr/>
        </p:nvSpPr>
        <p:spPr>
          <a:xfrm>
            <a:off x="7530000" y="3470000"/>
            <a:ext cx="34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/>
            </a:r>
          </a:p>
        </p:txBody>
      </p:sp>
      <p:sp>
        <p:nvSpPr>
          <p:cNvPr id="60" name="shape60"/>
          <p:cNvSpPr/>
          <p:nvPr/>
        </p:nvSpPr>
        <p:spPr>
          <a:xfrm>
            <a:off x="650000" y="3750000"/>
            <a:ext cx="30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shape61"/>
          <p:cNvSpPr/>
          <p:nvPr/>
        </p:nvSpPr>
        <p:spPr>
          <a:xfrm>
            <a:off x="650000" y="3750000"/>
            <a:ext cx="65000" cy="600000"/>
          </a:xfrm>
          <a:prstGeom prst="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ext62"/>
          <p:cNvSpPr txBox="1"/>
          <p:nvPr/>
        </p:nvSpPr>
        <p:spPr>
          <a:xfrm>
            <a:off x="830000" y="3900000"/>
            <a:ext cx="26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沙盒推演</a:t>
            </a:r>
          </a:p>
        </p:txBody>
      </p:sp>
      <p:sp>
        <p:nvSpPr>
          <p:cNvPr id="63" name="text63"/>
          <p:cNvSpPr txBox="1"/>
          <p:nvPr/>
        </p:nvSpPr>
        <p:spPr>
          <a:xfrm>
            <a:off x="830000" y="4270000"/>
            <a:ext cx="26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run_scenario + compare_plans</a:t>
            </a:r>
          </a:p>
        </p:txBody>
      </p:sp>
      <p:sp>
        <p:nvSpPr>
          <p:cNvPr id="70" name="shape70"/>
          <p:cNvSpPr/>
          <p:nvPr/>
        </p:nvSpPr>
        <p:spPr>
          <a:xfrm>
            <a:off x="7350000" y="3750000"/>
            <a:ext cx="38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71"/>
          <p:cNvSpPr/>
          <p:nvPr/>
        </p:nvSpPr>
        <p:spPr>
          <a:xfrm>
            <a:off x="7350000" y="3750000"/>
            <a:ext cx="65000" cy="600000"/>
          </a:xfrm>
          <a:prstGeom prst="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72" name="text72"/>
          <p:cNvSpPr txBox="1"/>
          <p:nvPr/>
        </p:nvSpPr>
        <p:spPr>
          <a:xfrm>
            <a:off x="7530000" y="390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正式计划保持 ACTIVE，差异可见</a:t>
            </a:r>
          </a:p>
        </p:txBody>
      </p:sp>
      <p:sp>
        <p:nvSpPr>
          <p:cNvPr id="73" name="text73"/>
          <p:cNvSpPr txBox="1"/>
          <p:nvPr/>
        </p:nvSpPr>
        <p:spPr>
          <a:xfrm>
            <a:off x="7530000" y="4270000"/>
            <a:ext cx="34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/>
            </a:r>
          </a:p>
        </p:txBody>
      </p:sp>
      <p:sp>
        <p:nvSpPr>
          <p:cNvPr id="80" name="shape80"/>
          <p:cNvSpPr/>
          <p:nvPr/>
        </p:nvSpPr>
        <p:spPr>
          <a:xfrm>
            <a:off x="650000" y="4550000"/>
            <a:ext cx="30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shape81"/>
          <p:cNvSpPr/>
          <p:nvPr/>
        </p:nvSpPr>
        <p:spPr>
          <a:xfrm>
            <a:off x="650000" y="4550000"/>
            <a:ext cx="65000" cy="600000"/>
          </a:xfrm>
          <a:prstGeom prst="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text82"/>
          <p:cNvSpPr txBox="1"/>
          <p:nvPr/>
        </p:nvSpPr>
        <p:spPr>
          <a:xfrm>
            <a:off x="830000" y="4700000"/>
            <a:ext cx="26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审批与 Trace</a:t>
            </a:r>
          </a:p>
        </p:txBody>
      </p:sp>
      <p:sp>
        <p:nvSpPr>
          <p:cNvPr id="83" name="text83"/>
          <p:cNvSpPr txBox="1"/>
          <p:nvPr/>
        </p:nvSpPr>
        <p:spPr>
          <a:xfrm>
            <a:off x="830000" y="5070000"/>
            <a:ext cx="26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状态机 + 审计 + 工具记账</a:t>
            </a:r>
          </a:p>
        </p:txBody>
      </p:sp>
      <p:sp>
        <p:nvSpPr>
          <p:cNvPr id="90" name="shape90"/>
          <p:cNvSpPr/>
          <p:nvPr/>
        </p:nvSpPr>
        <p:spPr>
          <a:xfrm>
            <a:off x="7350000" y="4550000"/>
            <a:ext cx="3800000" cy="60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91" name="shape91"/>
          <p:cNvSpPr/>
          <p:nvPr/>
        </p:nvSpPr>
        <p:spPr>
          <a:xfrm>
            <a:off x="7350000" y="4550000"/>
            <a:ext cx="65000" cy="600000"/>
          </a:xfrm>
          <a:prstGeom prst="rect">
            <a:avLst/>
          </a:prstGeom>
          <a:solidFill>
            <a:srgbClr val="197D79"/>
          </a:solidFill>
          <a:ln>
            <a:noFill/>
          </a:ln>
        </p:spPr>
        <p:txBody>
          <a:bodyPr/>
          <a:lstStyle/>
          <a:p/>
        </p:txBody>
      </p:sp>
      <p:sp>
        <p:nvSpPr>
          <p:cNvPr id="92" name="text92"/>
          <p:cNvSpPr txBox="1"/>
          <p:nvPr/>
        </p:nvSpPr>
        <p:spPr>
          <a:xfrm>
            <a:off x="7530000" y="470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批准记录、版本、trace_id、调用日志</a:t>
            </a:r>
          </a:p>
        </p:txBody>
      </p:sp>
      <p:sp>
        <p:nvSpPr>
          <p:cNvPr id="93" name="text93"/>
          <p:cNvSpPr txBox="1"/>
          <p:nvPr/>
        </p:nvSpPr>
        <p:spPr>
          <a:xfrm>
            <a:off x="7530000" y="5070000"/>
            <a:ext cx="3460000" cy="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/>
            </a:r>
          </a:p>
        </p:txBody>
      </p:sp>
      <p:sp>
        <p:nvSpPr>
          <p:cNvPr id="100" name="text100"/>
          <p:cNvSpPr txBox="1"/>
          <p:nvPr/>
        </p:nvSpPr>
        <p:spPr>
          <a:xfrm>
            <a:off x="3550000" y="3300000"/>
            <a:ext cx="33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450" b="1">
                <a:solidFill>
                  <a:srgbClr val="FFC857"/>
                </a:solidFill>
                <a:latin typeface="Aptos"/>
                <a:ea typeface="Microsoft YaHei"/>
              </a:rPr>
              <a:t>中间层：Orchestrator 统一路由、创建 Trace、管理预算与 ReAct 回合。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3"/>
          <p:cNvSpPr txBox="1"/>
          <p:nvPr/>
        </p:nvSpPr>
        <p:spPr>
          <a:xfrm>
            <a:off x="620000" y="350000"/>
            <a:ext cx="108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  <a:ea typeface="Microsoft YaHei"/>
              </a:rPr>
              <a:t>落地价值：运营效率、治理能力与扩展基础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20000" y="950000"/>
            <a:ext cx="105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350" b="0">
                <a:solidFill>
                  <a:srgbClr val="8FA7B8"/>
                </a:solidFill>
                <a:latin typeface="Aptos"/>
                <a:ea typeface="Microsoft YaHei"/>
              </a:rPr>
              <a:t>价值来自缩短决策链，并保留进入生产环境前的控制点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20000" y="6420000"/>
            <a:ext cx="4200000" cy="1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850" b="0">
                <a:solidFill>
                  <a:srgbClr val="7891A4"/>
                </a:solidFill>
                <a:latin typeface="Aptos"/>
                <a:ea typeface="Microsoft YaHei"/>
              </a:rPr>
              <a:t>NUS-ISS SHOW ME YOUR AGENT  |  16</a:t>
            </a:r>
          </a:p>
        </p:txBody>
      </p:sp>
      <p:sp>
        <p:nvSpPr>
          <p:cNvPr id="6" name="shape6"/>
          <p:cNvSpPr/>
          <p:nvPr/>
        </p:nvSpPr>
        <p:spPr>
          <a:xfrm>
            <a:off x="620000" y="6000000"/>
            <a:ext cx="1800000" cy="3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10"/>
          <p:cNvSpPr/>
          <p:nvPr/>
        </p:nvSpPr>
        <p:spPr>
          <a:xfrm>
            <a:off x="700000" y="2100000"/>
            <a:ext cx="3350000" cy="17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11"/>
          <p:cNvSpPr/>
          <p:nvPr/>
        </p:nvSpPr>
        <p:spPr>
          <a:xfrm>
            <a:off x="700000" y="2100000"/>
            <a:ext cx="65000" cy="1750000"/>
          </a:xfrm>
          <a:prstGeom prst="rect">
            <a:avLst/>
          </a:prstGeom>
          <a:solidFill>
            <a:srgbClr val="42C7B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12"/>
          <p:cNvSpPr txBox="1"/>
          <p:nvPr/>
        </p:nvSpPr>
        <p:spPr>
          <a:xfrm>
            <a:off x="880000" y="2250000"/>
            <a:ext cx="30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运营价值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880000" y="2620000"/>
            <a:ext cx="3010000" cy="11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更快识别可排与不可排作业；用 What-if 先计算影响；减少反复手工比对。</a:t>
            </a:r>
          </a:p>
        </p:txBody>
      </p:sp>
      <p:sp>
        <p:nvSpPr>
          <p:cNvPr id="20" name="shape20"/>
          <p:cNvSpPr/>
          <p:nvPr/>
        </p:nvSpPr>
        <p:spPr>
          <a:xfrm>
            <a:off x="4420000" y="2100000"/>
            <a:ext cx="3350000" cy="17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21"/>
          <p:cNvSpPr/>
          <p:nvPr/>
        </p:nvSpPr>
        <p:spPr>
          <a:xfrm>
            <a:off x="4420000" y="2100000"/>
            <a:ext cx="65000" cy="175000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22"/>
          <p:cNvSpPr txBox="1"/>
          <p:nvPr/>
        </p:nvSpPr>
        <p:spPr>
          <a:xfrm>
            <a:off x="4600000" y="2250000"/>
            <a:ext cx="30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治理价值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4600000" y="2620000"/>
            <a:ext cx="3010000" cy="11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审批、版本、输入来源和工具调用形成统一证据链，便于责任追踪与复盘。</a:t>
            </a:r>
          </a:p>
        </p:txBody>
      </p:sp>
      <p:sp>
        <p:nvSpPr>
          <p:cNvPr id="30" name="shape30"/>
          <p:cNvSpPr/>
          <p:nvPr/>
        </p:nvSpPr>
        <p:spPr>
          <a:xfrm>
            <a:off x="8140000" y="2100000"/>
            <a:ext cx="3350000" cy="1750000"/>
          </a:xfrm>
          <a:prstGeom prst="roundRect">
            <a:avLst/>
          </a:prstGeom>
          <a:solidFill>
            <a:srgbClr val="183A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31"/>
          <p:cNvSpPr/>
          <p:nvPr/>
        </p:nvSpPr>
        <p:spPr>
          <a:xfrm>
            <a:off x="8140000" y="2100000"/>
            <a:ext cx="65000" cy="1750000"/>
          </a:xfrm>
          <a:prstGeom prst="rect">
            <a:avLst/>
          </a:prstGeom>
          <a:solidFill>
            <a:srgbClr val="8E7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32"/>
          <p:cNvSpPr txBox="1"/>
          <p:nvPr/>
        </p:nvSpPr>
        <p:spPr>
          <a:xfrm>
            <a:off x="8320000" y="2250000"/>
            <a:ext cx="303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  <a:ea typeface="Microsoft YaHei"/>
              </a:rPr>
              <a:t>商业与技术扩展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8320000" y="2620000"/>
            <a:ext cx="3010000" cy="11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250" b="0">
                <a:solidFill>
                  <a:srgbClr val="B8CAD7"/>
                </a:solidFill>
                <a:latin typeface="Aptos"/>
                <a:ea typeface="Microsoft YaHei"/>
              </a:rPr>
              <a:t>连接 ERP / MES；沉淀跨产线与跨工厂的计划数据和规则资产。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1650000" y="4750000"/>
            <a:ext cx="88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850" b="1">
                <a:solidFill>
                  <a:srgbClr val="FFFFFF"/>
                </a:solidFill>
                <a:latin typeface="Aptos"/>
                <a:ea typeface="Microsoft YaHei"/>
              </a:rPr>
              <a:t>可用的起点：生产计划协作。   可扩展的方向：报价承诺、风险治理、跨站点协同。</a:t>
            </a:r>
          </a:p>
        </p:txBody>
      </p:sp>
    </p:spTree>
  </p:cSld>
  <p:clrMapOvr>
    <a:masterClrMapping/>
  </p:clrMapOvr>
  <p:transition spd="med" advClick="1">
    <p:fade/>
  </p:transition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0" name="image50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1" name="shape51"/>
          <p:cNvSpPr/>
          <p:nvPr/>
        </p:nvSpPr>
        <p:spPr>
          <a:xfrm>
            <a:off x="0" y="0"/>
            <a:ext cx="5800000" cy="6858000"/>
          </a:xfrm>
          <a:prstGeom prst="rect">
            <a:avLst/>
          </a:prstGeom>
          <a:solidFill>
            <a:srgbClr val="1024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52"/>
          <p:cNvSpPr txBox="1"/>
          <p:nvPr/>
        </p:nvSpPr>
        <p:spPr>
          <a:xfrm>
            <a:off x="650000" y="1800000"/>
            <a:ext cx="4900000" cy="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  <a:ea typeface="Microsoft YaHei"/>
              </a:rPr>
              <a:t>让车间变化成为可管理的决策流程</a:t>
            </a:r>
          </a:p>
        </p:txBody>
      </p:sp>
      <p:sp>
        <p:nvSpPr>
          <p:cNvPr id="53" name="text53"/>
          <p:cNvSpPr txBox="1"/>
          <p:nvPr/>
        </p:nvSpPr>
        <p:spPr>
          <a:xfrm>
            <a:off x="650000" y="2850000"/>
            <a:ext cx="4500000" cy="5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750" b="0">
                <a:solidFill>
                  <a:srgbClr val="C4D9E7"/>
                </a:solidFill>
                <a:latin typeface="Aptos"/>
                <a:ea typeface="Microsoft YaHei"/>
              </a:rPr>
              <a:t>一次变化，从事实确认开始，经过可复现计算，最终由人做出可审计的决定。</a:t>
            </a:r>
          </a:p>
        </p:txBody>
      </p:sp>
      <p:sp>
        <p:nvSpPr>
          <p:cNvPr id="54" name="shape54"/>
          <p:cNvSpPr/>
          <p:nvPr/>
        </p:nvSpPr>
        <p:spPr>
          <a:xfrm>
            <a:off x="650000" y="3750000"/>
            <a:ext cx="4000000" cy="580000"/>
          </a:xfrm>
          <a:prstGeom prst="roundRect">
            <a:avLst/>
          </a:prstGeom>
          <a:solidFill>
            <a:srgbClr val="17344E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ext55"/>
          <p:cNvSpPr txBox="1"/>
          <p:nvPr/>
        </p:nvSpPr>
        <p:spPr>
          <a:xfrm>
            <a:off x="850000" y="3940000"/>
            <a:ext cx="3600000" cy="19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sz="1350" b="1">
                <a:solidFill>
                  <a:srgbClr val="FFC857"/>
                </a:solidFill>
                <a:latin typeface="Aptos"/>
                <a:ea typeface="Microsoft YaHei"/>
              </a:rPr>
              <a:t>可信智能体 = 受控模型调用 + 确定性内核 + 人在环治理</a:t>
            </a:r>
          </a:p>
        </p:txBody>
      </p:sp>
      <p:sp>
        <p:nvSpPr>
          <p:cNvPr id="56" name="text56"/>
          <p:cNvSpPr txBox="1"/>
          <p:nvPr/>
        </p:nvSpPr>
        <p:spPr>
          <a:xfrm>
            <a:off x="650000" y="4750000"/>
            <a:ext cx="20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sz="1550" b="1">
                <a:solidFill>
                  <a:srgbClr val="FFFFFF"/>
                </a:solidFill>
                <a:latin typeface="Aptos"/>
                <a:ea typeface="Microsoft YaHei"/>
              </a:rPr>
              <a:t>Thank you</a:t>
            </a:r>
          </a:p>
        </p:txBody>
      </p:sp>
    </p:spTree>
  </p:cSld>
  <p:clrMapOvr>
    <a:masterClrMapping/>
  </p:clrMapOvr>
  <p:transition spd="med" advClick="1">
    <p:fade/>
  </p:transition>
</p:sld>
</file>

<file path=ppt\tableStyles.xml><?xml version="1.0" encoding="utf-8"?>
<a:tblStyleLst xmlns:a="http://schemas.openxmlformats.org/drawingml/2006/main" def="{5C22544A-7EE6-4342-B048-85BDC9FD1C3A}"/>
</file>

<file path=ppt\tags\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\tags\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\tags\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\tags\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\tags\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\tags\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\tags\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\tags\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\tags\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\tags\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\tags\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\tags\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\tags\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\tags\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\tags\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\tags\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\tags\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\tags\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\tags\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\tags\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\tags\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\tags\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\tags\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\tags\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\tags\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\tags\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\tags\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\tags\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\tags\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\tags\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\tags\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\tags\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\tags\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\tags\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\tags\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\tags\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\tags\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\tags\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\tags\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\tags\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\tags\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\tags\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\tags\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\tags\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\tags\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\tags\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\tags\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\tags\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\tags\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\tags\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\tags\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\tags\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\tags\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\tags\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\tags\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\tags\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\tags\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\tags\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\theme\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