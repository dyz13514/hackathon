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44E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"/>
          <p:cNvPicPr>
            <a:picLocks noChangeAspect="1"/>
          </p:cNvPicPr>
          <p:nvPr/>
        </p:nvPicPr>
        <p:blipFill>
          <a:blip r:embed="rId1"/>
          <a:srcRect l="30250" b="16742"/>
          <a:stretch>
            <a:fillRect/>
          </a:stretch>
        </p:blipFill>
        <p:spPr>
          <a:xfrm>
            <a:off x="1989455" y="0"/>
            <a:ext cx="10202545" cy="685736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任意多边形 9"/>
          <p:cNvSpPr/>
          <p:nvPr/>
        </p:nvSpPr>
        <p:spPr>
          <a:xfrm>
            <a:off x="1600200" y="0"/>
            <a:ext cx="8062867" cy="7028180"/>
          </a:xfrm>
          <a:custGeom>
            <a:avLst/>
            <a:gdLst>
              <a:gd name="connisteX0" fmla="*/ 9968040 w 10639262"/>
              <a:gd name="connsiteY0" fmla="*/ 1530581 h 10833536"/>
              <a:gd name="connisteX1" fmla="*/ 9319070 w 10639262"/>
              <a:gd name="connsiteY1" fmla="*/ 3840711 h 10833536"/>
              <a:gd name="connisteX2" fmla="*/ 7454075 w 10639262"/>
              <a:gd name="connsiteY2" fmla="*/ 4367761 h 10833536"/>
              <a:gd name="connisteX3" fmla="*/ 7656640 w 10639262"/>
              <a:gd name="connsiteY3" fmla="*/ 6435956 h 10833536"/>
              <a:gd name="connisteX4" fmla="*/ 6088825 w 10639262"/>
              <a:gd name="connsiteY4" fmla="*/ 7462751 h 10833536"/>
              <a:gd name="connisteX5" fmla="*/ 6697155 w 10639262"/>
              <a:gd name="connsiteY5" fmla="*/ 10004021 h 10833536"/>
              <a:gd name="connisteX6" fmla="*/ 980885 w 10639262"/>
              <a:gd name="connsiteY6" fmla="*/ 9828761 h 10833536"/>
              <a:gd name="connisteX7" fmla="*/ 1196785 w 10639262"/>
              <a:gd name="connsiteY7" fmla="*/ 665711 h 10833536"/>
              <a:gd name="connisteX8" fmla="*/ 9968040 w 10639262"/>
              <a:gd name="connsiteY8" fmla="*/ 1530581 h 108335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2697" h="11068">
                <a:moveTo>
                  <a:pt x="0" y="0"/>
                </a:moveTo>
                <a:lnTo>
                  <a:pt x="12697" y="0"/>
                </a:lnTo>
                <a:lnTo>
                  <a:pt x="12697" y="8"/>
                </a:lnTo>
                <a:cubicBezTo>
                  <a:pt x="12589" y="892"/>
                  <a:pt x="11156" y="1877"/>
                  <a:pt x="10624" y="2477"/>
                </a:cubicBezTo>
                <a:cubicBezTo>
                  <a:pt x="9832" y="3371"/>
                  <a:pt x="8211" y="2490"/>
                  <a:pt x="7687" y="3307"/>
                </a:cubicBezTo>
                <a:cubicBezTo>
                  <a:pt x="7163" y="4125"/>
                  <a:pt x="8436" y="5590"/>
                  <a:pt x="8006" y="6565"/>
                </a:cubicBezTo>
                <a:cubicBezTo>
                  <a:pt x="7576" y="7540"/>
                  <a:pt x="5839" y="7058"/>
                  <a:pt x="5537" y="8182"/>
                </a:cubicBezTo>
                <a:cubicBezTo>
                  <a:pt x="5336" y="8928"/>
                  <a:pt x="6534" y="10119"/>
                  <a:pt x="6890" y="11054"/>
                </a:cubicBezTo>
                <a:lnTo>
                  <a:pt x="6896" y="11068"/>
                </a:lnTo>
                <a:lnTo>
                  <a:pt x="0" y="11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905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1091565" y="0"/>
            <a:ext cx="8062867" cy="7028180"/>
          </a:xfrm>
          <a:custGeom>
            <a:avLst/>
            <a:gdLst>
              <a:gd name="connisteX0" fmla="*/ 9968040 w 10639262"/>
              <a:gd name="connsiteY0" fmla="*/ 1530581 h 10833536"/>
              <a:gd name="connisteX1" fmla="*/ 9319070 w 10639262"/>
              <a:gd name="connsiteY1" fmla="*/ 3840711 h 10833536"/>
              <a:gd name="connisteX2" fmla="*/ 7454075 w 10639262"/>
              <a:gd name="connsiteY2" fmla="*/ 4367761 h 10833536"/>
              <a:gd name="connisteX3" fmla="*/ 7656640 w 10639262"/>
              <a:gd name="connsiteY3" fmla="*/ 6435956 h 10833536"/>
              <a:gd name="connisteX4" fmla="*/ 6088825 w 10639262"/>
              <a:gd name="connsiteY4" fmla="*/ 7462751 h 10833536"/>
              <a:gd name="connisteX5" fmla="*/ 6697155 w 10639262"/>
              <a:gd name="connsiteY5" fmla="*/ 10004021 h 10833536"/>
              <a:gd name="connisteX6" fmla="*/ 980885 w 10639262"/>
              <a:gd name="connsiteY6" fmla="*/ 9828761 h 10833536"/>
              <a:gd name="connisteX7" fmla="*/ 1196785 w 10639262"/>
              <a:gd name="connsiteY7" fmla="*/ 665711 h 10833536"/>
              <a:gd name="connisteX8" fmla="*/ 9968040 w 10639262"/>
              <a:gd name="connsiteY8" fmla="*/ 1530581 h 108335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2697" h="11068">
                <a:moveTo>
                  <a:pt x="0" y="0"/>
                </a:moveTo>
                <a:lnTo>
                  <a:pt x="12697" y="0"/>
                </a:lnTo>
                <a:lnTo>
                  <a:pt x="12697" y="8"/>
                </a:lnTo>
                <a:cubicBezTo>
                  <a:pt x="12589" y="892"/>
                  <a:pt x="11156" y="1877"/>
                  <a:pt x="10624" y="2477"/>
                </a:cubicBezTo>
                <a:cubicBezTo>
                  <a:pt x="9832" y="3371"/>
                  <a:pt x="8211" y="2490"/>
                  <a:pt x="7687" y="3307"/>
                </a:cubicBezTo>
                <a:cubicBezTo>
                  <a:pt x="7163" y="4125"/>
                  <a:pt x="8436" y="5590"/>
                  <a:pt x="8006" y="6565"/>
                </a:cubicBezTo>
                <a:cubicBezTo>
                  <a:pt x="7576" y="7540"/>
                  <a:pt x="5839" y="7058"/>
                  <a:pt x="5537" y="8182"/>
                </a:cubicBezTo>
                <a:cubicBezTo>
                  <a:pt x="5336" y="8928"/>
                  <a:pt x="6534" y="10119"/>
                  <a:pt x="6890" y="11054"/>
                </a:cubicBezTo>
                <a:lnTo>
                  <a:pt x="6896" y="11068"/>
                </a:lnTo>
                <a:lnTo>
                  <a:pt x="0" y="11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905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>
            <a:off x="-635" y="0"/>
            <a:ext cx="9229725" cy="7028180"/>
          </a:xfrm>
          <a:custGeom>
            <a:avLst/>
            <a:gdLst>
              <a:gd name="connisteX0" fmla="*/ 9968040 w 10639262"/>
              <a:gd name="connsiteY0" fmla="*/ 1530581 h 10833536"/>
              <a:gd name="connisteX1" fmla="*/ 9319070 w 10639262"/>
              <a:gd name="connsiteY1" fmla="*/ 3840711 h 10833536"/>
              <a:gd name="connisteX2" fmla="*/ 7454075 w 10639262"/>
              <a:gd name="connsiteY2" fmla="*/ 4367761 h 10833536"/>
              <a:gd name="connisteX3" fmla="*/ 7656640 w 10639262"/>
              <a:gd name="connsiteY3" fmla="*/ 6435956 h 10833536"/>
              <a:gd name="connisteX4" fmla="*/ 6088825 w 10639262"/>
              <a:gd name="connsiteY4" fmla="*/ 7462751 h 10833536"/>
              <a:gd name="connisteX5" fmla="*/ 6697155 w 10639262"/>
              <a:gd name="connsiteY5" fmla="*/ 10004021 h 10833536"/>
              <a:gd name="connisteX6" fmla="*/ 980885 w 10639262"/>
              <a:gd name="connsiteY6" fmla="*/ 9828761 h 10833536"/>
              <a:gd name="connisteX7" fmla="*/ 1196785 w 10639262"/>
              <a:gd name="connsiteY7" fmla="*/ 665711 h 10833536"/>
              <a:gd name="connisteX8" fmla="*/ 9968040 w 10639262"/>
              <a:gd name="connsiteY8" fmla="*/ 1530581 h 108335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l" t="t" r="r" b="b"/>
            <a:pathLst>
              <a:path w="12697" h="11068">
                <a:moveTo>
                  <a:pt x="0" y="0"/>
                </a:moveTo>
                <a:lnTo>
                  <a:pt x="12697" y="0"/>
                </a:lnTo>
                <a:lnTo>
                  <a:pt x="12697" y="8"/>
                </a:lnTo>
                <a:cubicBezTo>
                  <a:pt x="12589" y="892"/>
                  <a:pt x="11156" y="1877"/>
                  <a:pt x="10624" y="2477"/>
                </a:cubicBezTo>
                <a:cubicBezTo>
                  <a:pt x="9832" y="3371"/>
                  <a:pt x="8211" y="2490"/>
                  <a:pt x="7687" y="3307"/>
                </a:cubicBezTo>
                <a:cubicBezTo>
                  <a:pt x="7163" y="4125"/>
                  <a:pt x="8436" y="5590"/>
                  <a:pt x="8006" y="6565"/>
                </a:cubicBezTo>
                <a:cubicBezTo>
                  <a:pt x="7576" y="7540"/>
                  <a:pt x="5839" y="7058"/>
                  <a:pt x="5537" y="8182"/>
                </a:cubicBezTo>
                <a:cubicBezTo>
                  <a:pt x="5336" y="8928"/>
                  <a:pt x="6534" y="10119"/>
                  <a:pt x="6890" y="11054"/>
                </a:cubicBezTo>
                <a:lnTo>
                  <a:pt x="6896" y="11068"/>
                </a:lnTo>
                <a:lnTo>
                  <a:pt x="0" y="1106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38100" dir="2700000" sx="103000" sy="103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3" name="text53"/>
          <p:cNvSpPr txBox="1"/>
          <p:nvPr/>
        </p:nvSpPr>
        <p:spPr>
          <a:xfrm>
            <a:off x="331470" y="3589020"/>
            <a:ext cx="3847465" cy="1020445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altLang="zh-CN" sz="2000" b="1">
                <a:solidFill>
                  <a:srgbClr val="17344E"/>
                </a:solidFill>
                <a:latin typeface="Aptos"/>
                <a:ea typeface="微软雅黑" panose="020B0503020204020204" charset="-122"/>
              </a:rPr>
              <a:t>A trustworthy production planning decision agent for unexpected shop-floor disruptions</a:t>
            </a:r>
            <a:endParaRPr lang="en-US" altLang="zh-CN" sz="2000" b="1">
              <a:solidFill>
                <a:srgbClr val="17344E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4" name="shape54"/>
          <p:cNvSpPr/>
          <p:nvPr/>
        </p:nvSpPr>
        <p:spPr>
          <a:xfrm>
            <a:off x="191135" y="6015355"/>
            <a:ext cx="2373630" cy="65024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ext55"/>
          <p:cNvSpPr txBox="1"/>
          <p:nvPr/>
        </p:nvSpPr>
        <p:spPr>
          <a:xfrm>
            <a:off x="397510" y="6136005"/>
            <a:ext cx="1961515" cy="409575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Team</a:t>
            </a:r>
            <a:r>
              <a:rPr lang="zh-CN" altLang="en-US"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：</a:t>
            </a:r>
            <a:r>
              <a:rPr lang="en-US"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AgentM</a:t>
            </a:r>
            <a:r>
              <a:rPr lang="en-US"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ate</a:t>
            </a:r>
            <a:endParaRPr lang="en-US"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35585" y="1071245"/>
            <a:ext cx="7109460" cy="19380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altLang="zh-CN" sz="40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Six Hours of Downtime. </a:t>
            </a:r>
            <a:endParaRPr lang="en-US" altLang="zh-CN" sz="40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pPr algn="l"/>
            <a:r>
              <a:rPr lang="en-US" altLang="zh-CN" sz="40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Who Pays for the </a:t>
            </a:r>
            <a:endParaRPr lang="en-US" altLang="zh-CN" sz="40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pPr algn="l"/>
            <a:r>
              <a:rPr lang="en-US" altLang="zh-CN" sz="40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Missed Delivery?</a:t>
            </a:r>
            <a:endParaRPr lang="en-US" altLang="zh-CN" sz="40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331470" y="3264535"/>
            <a:ext cx="16891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0" name="image5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1" name="shape51"/>
          <p:cNvSpPr/>
          <p:nvPr/>
        </p:nvSpPr>
        <p:spPr>
          <a:xfrm>
            <a:off x="0" y="0"/>
            <a:ext cx="5500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ext52"/>
          <p:cNvSpPr txBox="1"/>
          <p:nvPr/>
        </p:nvSpPr>
        <p:spPr>
          <a:xfrm>
            <a:off x="650000" y="670000"/>
            <a:ext cx="43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27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从一次真实的车间突发事件开始</a:t>
            </a:r>
            <a:endParaRPr sz="27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3" name="text53"/>
          <p:cNvSpPr txBox="1"/>
          <p:nvPr/>
        </p:nvSpPr>
        <p:spPr>
          <a:xfrm>
            <a:off x="650000" y="147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500" b="1">
                <a:solidFill>
                  <a:srgbClr val="FFC857"/>
                </a:solidFill>
                <a:latin typeface="Aptos"/>
                <a:ea typeface="微软雅黑" panose="020B0503020204020204" charset="-122"/>
              </a:rPr>
              <a:t>2026-03-03 08:00：CNC-01 停机，预计持续 6 小时</a:t>
            </a:r>
            <a:endParaRPr sz="1500" b="1">
              <a:solidFill>
                <a:srgbClr val="FFC85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0" name="shape60"/>
          <p:cNvSpPr/>
          <p:nvPr/>
        </p:nvSpPr>
        <p:spPr>
          <a:xfrm>
            <a:off x="650000" y="2150000"/>
            <a:ext cx="3850000" cy="8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shape61"/>
          <p:cNvSpPr/>
          <p:nvPr/>
        </p:nvSpPr>
        <p:spPr>
          <a:xfrm>
            <a:off x="650000" y="2150000"/>
            <a:ext cx="65000" cy="80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ext62"/>
          <p:cNvSpPr txBox="1"/>
          <p:nvPr/>
        </p:nvSpPr>
        <p:spPr>
          <a:xfrm>
            <a:off x="830000" y="2300000"/>
            <a:ext cx="353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订单承诺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3" name="text63"/>
          <p:cNvSpPr txBox="1"/>
          <p:nvPr/>
        </p:nvSpPr>
        <p:spPr>
          <a:xfrm>
            <a:off x="830000" y="2670000"/>
            <a:ext cx="3510000" cy="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哪些订单会延迟？哪些还能按时完成？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0" name="shape70"/>
          <p:cNvSpPr/>
          <p:nvPr/>
        </p:nvSpPr>
        <p:spPr>
          <a:xfrm>
            <a:off x="650000" y="3100000"/>
            <a:ext cx="3850000" cy="8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shape71"/>
          <p:cNvSpPr/>
          <p:nvPr/>
        </p:nvSpPr>
        <p:spPr>
          <a:xfrm>
            <a:off x="650000" y="3100000"/>
            <a:ext cx="65000" cy="8000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72"/>
          <p:cNvSpPr txBox="1"/>
          <p:nvPr/>
        </p:nvSpPr>
        <p:spPr>
          <a:xfrm>
            <a:off x="830000" y="3250000"/>
            <a:ext cx="353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资源约束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3" name="text73"/>
          <p:cNvSpPr txBox="1"/>
          <p:nvPr/>
        </p:nvSpPr>
        <p:spPr>
          <a:xfrm>
            <a:off x="830000" y="3620000"/>
            <a:ext cx="3510000" cy="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CNC-01 是深孔钻削能力的关键资源。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0" name="shape80"/>
          <p:cNvSpPr/>
          <p:nvPr/>
        </p:nvSpPr>
        <p:spPr>
          <a:xfrm>
            <a:off x="650000" y="4050000"/>
            <a:ext cx="3850000" cy="8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shape81"/>
          <p:cNvSpPr/>
          <p:nvPr/>
        </p:nvSpPr>
        <p:spPr>
          <a:xfrm>
            <a:off x="650000" y="4050000"/>
            <a:ext cx="65000" cy="800000"/>
          </a:xfrm>
          <a:prstGeom prst="rect">
            <a:avLst/>
          </a:prstGeom>
          <a:solidFill>
            <a:srgbClr val="8E7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text82"/>
          <p:cNvSpPr txBox="1"/>
          <p:nvPr/>
        </p:nvSpPr>
        <p:spPr>
          <a:xfrm>
            <a:off x="830000" y="4200000"/>
            <a:ext cx="353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决策压力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3" name="text83"/>
          <p:cNvSpPr txBox="1"/>
          <p:nvPr/>
        </p:nvSpPr>
        <p:spPr>
          <a:xfrm>
            <a:off x="830000" y="4570000"/>
            <a:ext cx="3510000" cy="2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计划员需要在有限时间内提出可执行的调整方案。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20000" y="35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项目要解决的四个关键问题</a:t>
            </a:r>
            <a:endParaRPr sz="28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text4"/>
          <p:cNvSpPr txBox="1"/>
          <p:nvPr/>
        </p:nvSpPr>
        <p:spPr>
          <a:xfrm>
            <a:off x="620000" y="950000"/>
            <a:ext cx="10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0">
                <a:solidFill>
                  <a:srgbClr val="8FA7B8"/>
                </a:solidFill>
                <a:latin typeface="Aptos"/>
                <a:ea typeface="微软雅黑" panose="020B0503020204020204" charset="-122"/>
              </a:rPr>
              <a:t>从业务需求推导出系统的能力边界</a:t>
            </a:r>
            <a:endParaRPr sz="1350" b="0">
              <a:solidFill>
                <a:srgbClr val="8FA7B8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text5"/>
          <p:cNvSpPr txBox="1"/>
          <p:nvPr/>
        </p:nvSpPr>
        <p:spPr>
          <a:xfrm>
            <a:off x="620000" y="6420000"/>
            <a:ext cx="4200000" cy="1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850" b="0">
                <a:solidFill>
                  <a:srgbClr val="7891A4"/>
                </a:solidFill>
                <a:latin typeface="Aptos"/>
                <a:ea typeface="微软雅黑" panose="020B0503020204020204" charset="-122"/>
              </a:rPr>
              <a:t>NUS-ISS SHOW ME YOUR AGENT  |  03</a:t>
            </a:r>
            <a:endParaRPr sz="850" b="0">
              <a:solidFill>
                <a:srgbClr val="7891A4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6"/>
          <p:cNvSpPr/>
          <p:nvPr/>
        </p:nvSpPr>
        <p:spPr>
          <a:xfrm>
            <a:off x="620000" y="6000000"/>
            <a:ext cx="1800000" cy="3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850000" y="1650000"/>
            <a:ext cx="103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600" b="0">
                <a:solidFill>
                  <a:srgbClr val="D3E3EC"/>
                </a:solidFill>
                <a:latin typeface="Aptos"/>
                <a:ea typeface="微软雅黑" panose="020B0503020204020204" charset="-122"/>
              </a:rPr>
              <a:t>一次停机发生后，计划员需要在同一条决策链里获得四类答案。</a:t>
            </a:r>
            <a:endParaRPr sz="1600" b="0">
              <a:solidFill>
                <a:srgbClr val="D3E3EC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0" name="shape20"/>
          <p:cNvSpPr/>
          <p:nvPr/>
        </p:nvSpPr>
        <p:spPr>
          <a:xfrm>
            <a:off x="900000" y="2350000"/>
            <a:ext cx="2450000" cy="135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21"/>
          <p:cNvSpPr/>
          <p:nvPr/>
        </p:nvSpPr>
        <p:spPr>
          <a:xfrm>
            <a:off x="900000" y="2350000"/>
            <a:ext cx="65000" cy="135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22"/>
          <p:cNvSpPr txBox="1"/>
          <p:nvPr/>
        </p:nvSpPr>
        <p:spPr>
          <a:xfrm>
            <a:off x="1080000" y="2500000"/>
            <a:ext cx="213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看清事实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3" name="text23"/>
          <p:cNvSpPr txBox="1"/>
          <p:nvPr/>
        </p:nvSpPr>
        <p:spPr>
          <a:xfrm>
            <a:off x="1080000" y="2870000"/>
            <a:ext cx="211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订单、库存、机器、工人处于哪一种状态？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0" name="shape30"/>
          <p:cNvSpPr/>
          <p:nvPr/>
        </p:nvSpPr>
        <p:spPr>
          <a:xfrm>
            <a:off x="3600000" y="2350000"/>
            <a:ext cx="2450000" cy="135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31"/>
          <p:cNvSpPr/>
          <p:nvPr/>
        </p:nvSpPr>
        <p:spPr>
          <a:xfrm>
            <a:off x="3600000" y="2350000"/>
            <a:ext cx="65000" cy="13500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32"/>
          <p:cNvSpPr txBox="1"/>
          <p:nvPr/>
        </p:nvSpPr>
        <p:spPr>
          <a:xfrm>
            <a:off x="3780000" y="2500000"/>
            <a:ext cx="213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找到可行方案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3" name="text33"/>
          <p:cNvSpPr txBox="1"/>
          <p:nvPr/>
        </p:nvSpPr>
        <p:spPr>
          <a:xfrm>
            <a:off x="3780000" y="2870000"/>
            <a:ext cx="211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硬约束下有哪些作业能排、哪些必须说明原因？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0" name="shape40"/>
          <p:cNvSpPr/>
          <p:nvPr/>
        </p:nvSpPr>
        <p:spPr>
          <a:xfrm>
            <a:off x="6300000" y="2350000"/>
            <a:ext cx="2450000" cy="135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shape41"/>
          <p:cNvSpPr/>
          <p:nvPr/>
        </p:nvSpPr>
        <p:spPr>
          <a:xfrm>
            <a:off x="6300000" y="2350000"/>
            <a:ext cx="65000" cy="1350000"/>
          </a:xfrm>
          <a:prstGeom prst="rect">
            <a:avLst/>
          </a:prstGeom>
          <a:solidFill>
            <a:srgbClr val="8E7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ext42"/>
          <p:cNvSpPr txBox="1"/>
          <p:nvPr/>
        </p:nvSpPr>
        <p:spPr>
          <a:xfrm>
            <a:off x="6480000" y="2500000"/>
            <a:ext cx="213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控制变更风险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3" name="text43"/>
          <p:cNvSpPr txBox="1"/>
          <p:nvPr/>
        </p:nvSpPr>
        <p:spPr>
          <a:xfrm>
            <a:off x="6480000" y="2870000"/>
            <a:ext cx="211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推演结果如何与正式计划隔离？谁有权生效？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0" name="shape50"/>
          <p:cNvSpPr/>
          <p:nvPr/>
        </p:nvSpPr>
        <p:spPr>
          <a:xfrm>
            <a:off x="9000000" y="2350000"/>
            <a:ext cx="2450000" cy="135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shape51"/>
          <p:cNvSpPr/>
          <p:nvPr/>
        </p:nvSpPr>
        <p:spPr>
          <a:xfrm>
            <a:off x="9000000" y="2350000"/>
            <a:ext cx="65000" cy="1350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ext52"/>
          <p:cNvSpPr txBox="1"/>
          <p:nvPr/>
        </p:nvSpPr>
        <p:spPr>
          <a:xfrm>
            <a:off x="9180000" y="2500000"/>
            <a:ext cx="213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留下决策证据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3" name="text53"/>
          <p:cNvSpPr txBox="1"/>
          <p:nvPr/>
        </p:nvSpPr>
        <p:spPr>
          <a:xfrm>
            <a:off x="9180000" y="2870000"/>
            <a:ext cx="211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输入、工具调用、结果和审批如何追溯？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0" name="text60"/>
          <p:cNvSpPr txBox="1"/>
          <p:nvPr/>
        </p:nvSpPr>
        <p:spPr>
          <a:xfrm>
            <a:off x="1550000" y="465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20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项目需求：快，但每一步都能被解释、验证和审计。</a:t>
            </a:r>
            <a:endParaRPr sz="20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20000" y="35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目标体验：把“处理突发事件”变成一条受控流程</a:t>
            </a:r>
            <a:endParaRPr sz="28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text4"/>
          <p:cNvSpPr txBox="1"/>
          <p:nvPr/>
        </p:nvSpPr>
        <p:spPr>
          <a:xfrm>
            <a:off x="620000" y="950000"/>
            <a:ext cx="10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0">
                <a:solidFill>
                  <a:srgbClr val="8FA7B8"/>
                </a:solidFill>
                <a:latin typeface="Aptos"/>
                <a:ea typeface="微软雅黑" panose="020B0503020204020204" charset="-122"/>
              </a:rPr>
              <a:t>计划员始终看得见当前状态、可选方案与决策权限</a:t>
            </a:r>
            <a:endParaRPr sz="1350" b="0">
              <a:solidFill>
                <a:srgbClr val="8FA7B8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text5"/>
          <p:cNvSpPr txBox="1"/>
          <p:nvPr/>
        </p:nvSpPr>
        <p:spPr>
          <a:xfrm>
            <a:off x="620000" y="6420000"/>
            <a:ext cx="4200000" cy="1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850" b="0">
                <a:solidFill>
                  <a:srgbClr val="7891A4"/>
                </a:solidFill>
                <a:latin typeface="Aptos"/>
                <a:ea typeface="微软雅黑" panose="020B0503020204020204" charset="-122"/>
              </a:rPr>
              <a:t>NUS-ISS SHOW ME YOUR AGENT  |  04</a:t>
            </a:r>
            <a:endParaRPr sz="850" b="0">
              <a:solidFill>
                <a:srgbClr val="7891A4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6"/>
          <p:cNvSpPr/>
          <p:nvPr/>
        </p:nvSpPr>
        <p:spPr>
          <a:xfrm>
            <a:off x="620000" y="6000000"/>
            <a:ext cx="1800000" cy="3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arrow20"/>
          <p:cNvSpPr/>
          <p:nvPr/>
        </p:nvSpPr>
        <p:spPr>
          <a:xfrm>
            <a:off x="1650000" y="3200000"/>
            <a:ext cx="8400000" cy="1"/>
          </a:xfrm>
          <a:prstGeom prst="line">
            <a:avLst/>
          </a:prstGeom>
          <a:ln w="18000">
            <a:solidFill>
              <a:srgbClr val="42C7B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30"/>
          <p:cNvSpPr/>
          <p:nvPr/>
        </p:nvSpPr>
        <p:spPr>
          <a:xfrm>
            <a:off x="800000" y="2400000"/>
            <a:ext cx="1700000" cy="11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31"/>
          <p:cNvSpPr txBox="1"/>
          <p:nvPr/>
        </p:nvSpPr>
        <p:spPr>
          <a:xfrm>
            <a:off x="930000" y="2530000"/>
            <a:ext cx="14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01 识别变化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2" name="text32"/>
          <p:cNvSpPr txBox="1"/>
          <p:nvPr/>
        </p:nvSpPr>
        <p:spPr>
          <a:xfrm>
            <a:off x="930000" y="2840000"/>
            <a:ext cx="144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停机、缺料、插单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0" name="shape40"/>
          <p:cNvSpPr/>
          <p:nvPr/>
        </p:nvSpPr>
        <p:spPr>
          <a:xfrm>
            <a:off x="3000000" y="2400000"/>
            <a:ext cx="1700000" cy="11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ext41"/>
          <p:cNvSpPr txBox="1"/>
          <p:nvPr/>
        </p:nvSpPr>
        <p:spPr>
          <a:xfrm>
            <a:off x="3130000" y="2530000"/>
            <a:ext cx="14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02 结构化确认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2" name="text42"/>
          <p:cNvSpPr txBox="1"/>
          <p:nvPr/>
        </p:nvSpPr>
        <p:spPr>
          <a:xfrm>
            <a:off x="3130000" y="2840000"/>
            <a:ext cx="144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把意图变成可校验场景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0" name="shape50"/>
          <p:cNvSpPr/>
          <p:nvPr/>
        </p:nvSpPr>
        <p:spPr>
          <a:xfrm>
            <a:off x="5200000" y="2400000"/>
            <a:ext cx="1700000" cy="11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ext51"/>
          <p:cNvSpPr txBox="1"/>
          <p:nvPr/>
        </p:nvSpPr>
        <p:spPr>
          <a:xfrm>
            <a:off x="5330000" y="2530000"/>
            <a:ext cx="14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03 沙盒推演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2" name="text52"/>
          <p:cNvSpPr txBox="1"/>
          <p:nvPr/>
        </p:nvSpPr>
        <p:spPr>
          <a:xfrm>
            <a:off x="5330000" y="2840000"/>
            <a:ext cx="144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计算影响并保留原计划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0" name="shape60"/>
          <p:cNvSpPr/>
          <p:nvPr/>
        </p:nvSpPr>
        <p:spPr>
          <a:xfrm>
            <a:off x="7400000" y="2400000"/>
            <a:ext cx="1700000" cy="11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61"/>
          <p:cNvSpPr txBox="1"/>
          <p:nvPr/>
        </p:nvSpPr>
        <p:spPr>
          <a:xfrm>
            <a:off x="7530000" y="2530000"/>
            <a:ext cx="14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04 提案审批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2" name="text62"/>
          <p:cNvSpPr txBox="1"/>
          <p:nvPr/>
        </p:nvSpPr>
        <p:spPr>
          <a:xfrm>
            <a:off x="7530000" y="2840000"/>
            <a:ext cx="144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人决定是否激活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0" name="shape70"/>
          <p:cNvSpPr/>
          <p:nvPr/>
        </p:nvSpPr>
        <p:spPr>
          <a:xfrm>
            <a:off x="9600000" y="2400000"/>
            <a:ext cx="1700000" cy="11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ext71"/>
          <p:cNvSpPr txBox="1"/>
          <p:nvPr/>
        </p:nvSpPr>
        <p:spPr>
          <a:xfrm>
            <a:off x="9730000" y="2530000"/>
            <a:ext cx="14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05 追踪复盘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2" name="text72"/>
          <p:cNvSpPr txBox="1"/>
          <p:nvPr/>
        </p:nvSpPr>
        <p:spPr>
          <a:xfrm>
            <a:off x="9730000" y="2840000"/>
            <a:ext cx="144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留下完整证据链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0" name="text80"/>
          <p:cNvSpPr txBox="1"/>
          <p:nvPr/>
        </p:nvSpPr>
        <p:spPr>
          <a:xfrm>
            <a:off x="1900000" y="4550000"/>
            <a:ext cx="8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950" b="1">
                <a:solidFill>
                  <a:srgbClr val="FFC857"/>
                </a:solidFill>
                <a:latin typeface="Aptos"/>
                <a:ea typeface="微软雅黑" panose="020B0503020204020204" charset="-122"/>
              </a:rPr>
              <a:t>系统提供建议与证据；计划员拥有正式计划的决定权。</a:t>
            </a:r>
            <a:endParaRPr sz="1950" b="1">
              <a:solidFill>
                <a:srgbClr val="FFC857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20000" y="35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总体架构：数据流与控制流如何连接</a:t>
            </a:r>
            <a:endParaRPr sz="28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text4"/>
          <p:cNvSpPr txBox="1"/>
          <p:nvPr/>
        </p:nvSpPr>
        <p:spPr>
          <a:xfrm>
            <a:off x="620000" y="950000"/>
            <a:ext cx="10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0">
                <a:solidFill>
                  <a:srgbClr val="8FA7B8"/>
                </a:solidFill>
                <a:latin typeface="Aptos"/>
                <a:ea typeface="微软雅黑" panose="020B0503020204020204" charset="-122"/>
              </a:rPr>
              <a:t>技术栈嵌入业务决策链，而不是单独罗列</a:t>
            </a:r>
            <a:endParaRPr sz="1350" b="0">
              <a:solidFill>
                <a:srgbClr val="8FA7B8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text5"/>
          <p:cNvSpPr txBox="1"/>
          <p:nvPr/>
        </p:nvSpPr>
        <p:spPr>
          <a:xfrm>
            <a:off x="620000" y="6420000"/>
            <a:ext cx="4200000" cy="1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850" b="0">
                <a:solidFill>
                  <a:srgbClr val="7891A4"/>
                </a:solidFill>
                <a:latin typeface="Aptos"/>
                <a:ea typeface="微软雅黑" panose="020B0503020204020204" charset="-122"/>
              </a:rPr>
              <a:t>NUS-ISS SHOW ME YOUR AGENT  |  05</a:t>
            </a:r>
            <a:endParaRPr sz="850" b="0">
              <a:solidFill>
                <a:srgbClr val="7891A4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6"/>
          <p:cNvSpPr/>
          <p:nvPr/>
        </p:nvSpPr>
        <p:spPr>
          <a:xfrm>
            <a:off x="620000" y="6000000"/>
            <a:ext cx="1800000" cy="3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750000" y="1600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1">
                <a:solidFill>
                  <a:srgbClr val="42C7B5"/>
                </a:solidFill>
                <a:latin typeface="Aptos"/>
                <a:ea typeface="微软雅黑" panose="020B0503020204020204" charset="-122"/>
              </a:rPr>
              <a:t>数据流</a:t>
            </a:r>
            <a:endParaRPr sz="1350" b="1">
              <a:solidFill>
                <a:srgbClr val="42C7B5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1" name="text11"/>
          <p:cNvSpPr txBox="1"/>
          <p:nvPr/>
        </p:nvSpPr>
        <p:spPr>
          <a:xfrm>
            <a:off x="9500000" y="1600000"/>
            <a:ext cx="12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1">
                <a:solidFill>
                  <a:srgbClr val="FFC857"/>
                </a:solidFill>
                <a:latin typeface="Aptos"/>
                <a:ea typeface="微软雅黑" panose="020B0503020204020204" charset="-122"/>
              </a:rPr>
              <a:t>控制流</a:t>
            </a:r>
            <a:endParaRPr sz="1350" b="1">
              <a:solidFill>
                <a:srgbClr val="FFC85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2" name="arrow12"/>
          <p:cNvSpPr/>
          <p:nvPr/>
        </p:nvSpPr>
        <p:spPr>
          <a:xfrm>
            <a:off x="2450000" y="2600000"/>
            <a:ext cx="650000" cy="1"/>
          </a:xfrm>
          <a:prstGeom prst="line">
            <a:avLst/>
          </a:prstGeom>
          <a:ln w="18000">
            <a:solidFill>
              <a:srgbClr val="42C7B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3" name="arrow13"/>
          <p:cNvSpPr/>
          <p:nvPr/>
        </p:nvSpPr>
        <p:spPr>
          <a:xfrm>
            <a:off x="5000000" y="2600000"/>
            <a:ext cx="650000" cy="1"/>
          </a:xfrm>
          <a:prstGeom prst="line">
            <a:avLst/>
          </a:prstGeom>
          <a:ln w="18000">
            <a:solidFill>
              <a:srgbClr val="42C7B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4" name="arrow14"/>
          <p:cNvSpPr/>
          <p:nvPr/>
        </p:nvSpPr>
        <p:spPr>
          <a:xfrm>
            <a:off x="7550000" y="2600000"/>
            <a:ext cx="650000" cy="1"/>
          </a:xfrm>
          <a:prstGeom prst="line">
            <a:avLst/>
          </a:prstGeom>
          <a:ln w="18000">
            <a:solidFill>
              <a:srgbClr val="42C7B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5" name="arrow15"/>
          <p:cNvSpPr/>
          <p:nvPr/>
        </p:nvSpPr>
        <p:spPr>
          <a:xfrm>
            <a:off x="10000000" y="2600000"/>
            <a:ext cx="650000" cy="1"/>
          </a:xfrm>
          <a:prstGeom prst="line">
            <a:avLst/>
          </a:prstGeom>
          <a:ln w="18000">
            <a:solidFill>
              <a:srgbClr val="42C7B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0" name="shape20"/>
          <p:cNvSpPr/>
          <p:nvPr/>
        </p:nvSpPr>
        <p:spPr>
          <a:xfrm>
            <a:off x="650000" y="2100000"/>
            <a:ext cx="1800000" cy="105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21"/>
          <p:cNvSpPr txBox="1"/>
          <p:nvPr/>
        </p:nvSpPr>
        <p:spPr>
          <a:xfrm>
            <a:off x="780000" y="2230000"/>
            <a:ext cx="15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业务数据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2" name="text22"/>
          <p:cNvSpPr txBox="1"/>
          <p:nvPr/>
        </p:nvSpPr>
        <p:spPr>
          <a:xfrm>
            <a:off x="780000" y="2540000"/>
            <a:ext cx="1540000" cy="5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订单｜物料｜机器｜工人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0" name="shape30"/>
          <p:cNvSpPr/>
          <p:nvPr/>
        </p:nvSpPr>
        <p:spPr>
          <a:xfrm>
            <a:off x="3100000" y="2100000"/>
            <a:ext cx="1800000" cy="105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31"/>
          <p:cNvSpPr txBox="1"/>
          <p:nvPr/>
        </p:nvSpPr>
        <p:spPr>
          <a:xfrm>
            <a:off x="3230000" y="2230000"/>
            <a:ext cx="15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React 界面 + FastAPI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2" name="text32"/>
          <p:cNvSpPr txBox="1"/>
          <p:nvPr/>
        </p:nvSpPr>
        <p:spPr>
          <a:xfrm>
            <a:off x="3230000" y="2540000"/>
            <a:ext cx="1540000" cy="5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收集意图｜返回可解释结果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0" name="shape40"/>
          <p:cNvSpPr/>
          <p:nvPr/>
        </p:nvSpPr>
        <p:spPr>
          <a:xfrm>
            <a:off x="5650000" y="2100000"/>
            <a:ext cx="1800000" cy="1050000"/>
          </a:xfrm>
          <a:prstGeom prst="roundRect">
            <a:avLst/>
          </a:prstGeom>
          <a:solidFill>
            <a:srgbClr val="197D79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ext41"/>
          <p:cNvSpPr txBox="1"/>
          <p:nvPr/>
        </p:nvSpPr>
        <p:spPr>
          <a:xfrm>
            <a:off x="5780000" y="2230000"/>
            <a:ext cx="15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编排层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2" name="text42"/>
          <p:cNvSpPr txBox="1"/>
          <p:nvPr/>
        </p:nvSpPr>
        <p:spPr>
          <a:xfrm>
            <a:off x="5780000" y="2540000"/>
            <a:ext cx="1540000" cy="5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路由 Intent｜管理 Trace 与预算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0" name="shape50"/>
          <p:cNvSpPr/>
          <p:nvPr/>
        </p:nvSpPr>
        <p:spPr>
          <a:xfrm>
            <a:off x="8200000" y="2100000"/>
            <a:ext cx="1800000" cy="1050000"/>
          </a:xfrm>
          <a:prstGeom prst="roundRect">
            <a:avLst/>
          </a:prstGeom>
          <a:solidFill>
            <a:srgbClr val="197D79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ext51"/>
          <p:cNvSpPr txBox="1"/>
          <p:nvPr/>
        </p:nvSpPr>
        <p:spPr>
          <a:xfrm>
            <a:off x="8330000" y="2230000"/>
            <a:ext cx="15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Agent / LLM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2" name="text52"/>
          <p:cNvSpPr txBox="1"/>
          <p:nvPr/>
        </p:nvSpPr>
        <p:spPr>
          <a:xfrm>
            <a:off x="8330000" y="2540000"/>
            <a:ext cx="1540000" cy="5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理解语言｜选择获准工具｜输出结构化提案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0" name="shape60"/>
          <p:cNvSpPr/>
          <p:nvPr/>
        </p:nvSpPr>
        <p:spPr>
          <a:xfrm>
            <a:off x="10600000" y="2100000"/>
            <a:ext cx="1250000" cy="105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61"/>
          <p:cNvSpPr txBox="1"/>
          <p:nvPr/>
        </p:nvSpPr>
        <p:spPr>
          <a:xfrm>
            <a:off x="10730000" y="2230000"/>
            <a:ext cx="99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工具注册表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2" name="text62"/>
          <p:cNvSpPr txBox="1"/>
          <p:nvPr/>
        </p:nvSpPr>
        <p:spPr>
          <a:xfrm>
            <a:off x="10730000" y="2540000"/>
            <a:ext cx="990000" cy="5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白名单｜Schema｜执行｜投影｜截断｜记账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0" name="arrow70"/>
          <p:cNvSpPr/>
          <p:nvPr/>
        </p:nvSpPr>
        <p:spPr>
          <a:xfrm rot="5400000">
            <a:off x="6550000" y="3450000"/>
            <a:ext cx="800000" cy="1"/>
          </a:xfrm>
          <a:prstGeom prst="line">
            <a:avLst/>
          </a:prstGeom>
          <a:ln w="18000">
            <a:solidFill>
              <a:srgbClr val="FFC857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0" name="shape80"/>
          <p:cNvSpPr/>
          <p:nvPr/>
        </p:nvSpPr>
        <p:spPr>
          <a:xfrm>
            <a:off x="4650000" y="4300000"/>
            <a:ext cx="3400000" cy="9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text81"/>
          <p:cNvSpPr txBox="1"/>
          <p:nvPr/>
        </p:nvSpPr>
        <p:spPr>
          <a:xfrm>
            <a:off x="4780000" y="4430000"/>
            <a:ext cx="31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确定性排产核心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2" name="text82"/>
          <p:cNvSpPr txBox="1"/>
          <p:nvPr/>
        </p:nvSpPr>
        <p:spPr>
          <a:xfrm>
            <a:off x="4780000" y="4740000"/>
            <a:ext cx="314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约束校验｜排程｜风险扫描｜情景模拟｜影响比较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0" name="arrow90"/>
          <p:cNvSpPr/>
          <p:nvPr/>
        </p:nvSpPr>
        <p:spPr>
          <a:xfrm>
            <a:off x="8100000" y="4750000"/>
            <a:ext cx="800000" cy="1"/>
          </a:xfrm>
          <a:prstGeom prst="line">
            <a:avLst/>
          </a:prstGeom>
          <a:ln w="18000">
            <a:solidFill>
              <a:srgbClr val="FFC857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0" name="shape100"/>
          <p:cNvSpPr/>
          <p:nvPr/>
        </p:nvSpPr>
        <p:spPr>
          <a:xfrm>
            <a:off x="9000000" y="4300000"/>
            <a:ext cx="2600000" cy="900000"/>
          </a:xfrm>
          <a:prstGeom prst="roundRect">
            <a:avLst/>
          </a:prstGeom>
          <a:solidFill>
            <a:srgbClr val="5C3D1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ext101"/>
          <p:cNvSpPr txBox="1"/>
          <p:nvPr/>
        </p:nvSpPr>
        <p:spPr>
          <a:xfrm>
            <a:off x="9130000" y="4430000"/>
            <a:ext cx="23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计划治理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02" name="text102"/>
          <p:cNvSpPr txBox="1"/>
          <p:nvPr/>
        </p:nvSpPr>
        <p:spPr>
          <a:xfrm>
            <a:off x="9130000" y="4740000"/>
            <a:ext cx="234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PENDING_APPROVAL → APPROVE / MODIFY / REJECT → ACTIVE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10" name="text110"/>
          <p:cNvSpPr txBox="1"/>
          <p:nvPr/>
        </p:nvSpPr>
        <p:spPr>
          <a:xfrm>
            <a:off x="1850000" y="5550000"/>
            <a:ext cx="82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50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Trace、审计日志、版本号贯穿全流程，为每一次建议保留证据。</a:t>
            </a:r>
            <a:endParaRPr sz="150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20000" y="35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模型调用的上下文：由系统状态驱动</a:t>
            </a:r>
            <a:endParaRPr sz="28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text4"/>
          <p:cNvSpPr txBox="1"/>
          <p:nvPr/>
        </p:nvSpPr>
        <p:spPr>
          <a:xfrm>
            <a:off x="620000" y="950000"/>
            <a:ext cx="10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0">
                <a:solidFill>
                  <a:srgbClr val="8FA7B8"/>
                </a:solidFill>
                <a:latin typeface="Aptos"/>
                <a:ea typeface="微软雅黑" panose="020B0503020204020204" charset="-122"/>
              </a:rPr>
              <a:t>每一轮都重新装配与当前任务相关的事实</a:t>
            </a:r>
            <a:endParaRPr sz="1350" b="0">
              <a:solidFill>
                <a:srgbClr val="8FA7B8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text5"/>
          <p:cNvSpPr txBox="1"/>
          <p:nvPr/>
        </p:nvSpPr>
        <p:spPr>
          <a:xfrm>
            <a:off x="620000" y="6420000"/>
            <a:ext cx="4200000" cy="1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850" b="0">
                <a:solidFill>
                  <a:srgbClr val="7891A4"/>
                </a:solidFill>
                <a:latin typeface="Aptos"/>
                <a:ea typeface="微软雅黑" panose="020B0503020204020204" charset="-122"/>
              </a:rPr>
              <a:t>NUS-ISS SHOW ME YOUR AGENT  |  06</a:t>
            </a:r>
            <a:endParaRPr sz="850" b="0">
              <a:solidFill>
                <a:srgbClr val="7891A4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6"/>
          <p:cNvSpPr/>
          <p:nvPr/>
        </p:nvSpPr>
        <p:spPr>
          <a:xfrm>
            <a:off x="620000" y="6000000"/>
            <a:ext cx="1800000" cy="3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10"/>
          <p:cNvSpPr/>
          <p:nvPr/>
        </p:nvSpPr>
        <p:spPr>
          <a:xfrm>
            <a:off x="650000" y="2000000"/>
            <a:ext cx="2800000" cy="105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11"/>
          <p:cNvSpPr txBox="1"/>
          <p:nvPr/>
        </p:nvSpPr>
        <p:spPr>
          <a:xfrm>
            <a:off x="780000" y="2130000"/>
            <a:ext cx="25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SessionState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2" name="text12"/>
          <p:cNvSpPr txBox="1"/>
          <p:nvPr/>
        </p:nvSpPr>
        <p:spPr>
          <a:xfrm>
            <a:off x="780000" y="2440000"/>
            <a:ext cx="2540000" cy="5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active_plan｜pending_plan｜last_disruption｜已启用偏好｜degraded mode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0" name="shape20"/>
          <p:cNvSpPr/>
          <p:nvPr/>
        </p:nvSpPr>
        <p:spPr>
          <a:xfrm>
            <a:off x="650000" y="3450000"/>
            <a:ext cx="2800000" cy="90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21"/>
          <p:cNvSpPr txBox="1"/>
          <p:nvPr/>
        </p:nvSpPr>
        <p:spPr>
          <a:xfrm>
            <a:off x="780000" y="3580000"/>
            <a:ext cx="25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工具观察历史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2" name="text22"/>
          <p:cNvSpPr txBox="1"/>
          <p:nvPr/>
        </p:nvSpPr>
        <p:spPr>
          <a:xfrm>
            <a:off x="780000" y="3890000"/>
            <a:ext cx="254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早期结果：每条压缩为一行摘要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0" name="shape30"/>
          <p:cNvSpPr/>
          <p:nvPr/>
        </p:nvSpPr>
        <p:spPr>
          <a:xfrm>
            <a:off x="650000" y="4700000"/>
            <a:ext cx="2800000" cy="90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31"/>
          <p:cNvSpPr txBox="1"/>
          <p:nvPr/>
        </p:nvSpPr>
        <p:spPr>
          <a:xfrm>
            <a:off x="780000" y="4830000"/>
            <a:ext cx="25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最近两条观察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2" name="text32"/>
          <p:cNvSpPr txBox="1"/>
          <p:nvPr/>
        </p:nvSpPr>
        <p:spPr>
          <a:xfrm>
            <a:off x="780000" y="5140000"/>
            <a:ext cx="254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保留完整的结构化工具结果；不可信内容加 &lt;untrusted&gt; 包装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0" name="arrow40"/>
          <p:cNvSpPr/>
          <p:nvPr/>
        </p:nvSpPr>
        <p:spPr>
          <a:xfrm>
            <a:off x="3700000" y="2600000"/>
            <a:ext cx="950000" cy="1"/>
          </a:xfrm>
          <a:prstGeom prst="line">
            <a:avLst/>
          </a:prstGeom>
          <a:ln w="18000">
            <a:solidFill>
              <a:srgbClr val="42C7B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1" name="arrow41"/>
          <p:cNvSpPr/>
          <p:nvPr/>
        </p:nvSpPr>
        <p:spPr>
          <a:xfrm>
            <a:off x="3700000" y="3900000"/>
            <a:ext cx="950000" cy="1"/>
          </a:xfrm>
          <a:prstGeom prst="line">
            <a:avLst/>
          </a:prstGeom>
          <a:ln w="18000">
            <a:solidFill>
              <a:srgbClr val="42C7B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2" name="arrow42"/>
          <p:cNvSpPr/>
          <p:nvPr/>
        </p:nvSpPr>
        <p:spPr>
          <a:xfrm>
            <a:off x="3700000" y="5150000"/>
            <a:ext cx="950000" cy="1"/>
          </a:xfrm>
          <a:prstGeom prst="line">
            <a:avLst/>
          </a:prstGeom>
          <a:ln w="18000">
            <a:solidFill>
              <a:srgbClr val="42C7B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50" name="shape50"/>
          <p:cNvSpPr/>
          <p:nvPr/>
        </p:nvSpPr>
        <p:spPr>
          <a:xfrm>
            <a:off x="4850000" y="3050000"/>
            <a:ext cx="2600000" cy="1250000"/>
          </a:xfrm>
          <a:prstGeom prst="roundRect">
            <a:avLst/>
          </a:prstGeom>
          <a:solidFill>
            <a:srgbClr val="197D79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ext51"/>
          <p:cNvSpPr txBox="1"/>
          <p:nvPr/>
        </p:nvSpPr>
        <p:spPr>
          <a:xfrm>
            <a:off x="4980000" y="3180000"/>
            <a:ext cx="23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Context Manager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2" name="text52"/>
          <p:cNvSpPr txBox="1"/>
          <p:nvPr/>
        </p:nvSpPr>
        <p:spPr>
          <a:xfrm>
            <a:off x="4980000" y="3490000"/>
            <a:ext cx="234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固定顺序组装：运行状态｜历史摘要｜最近观察｜任务块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0" name="arrow60"/>
          <p:cNvSpPr/>
          <p:nvPr/>
        </p:nvSpPr>
        <p:spPr>
          <a:xfrm>
            <a:off x="7550000" y="3670000"/>
            <a:ext cx="1050000" cy="1"/>
          </a:xfrm>
          <a:prstGeom prst="line">
            <a:avLst/>
          </a:prstGeom>
          <a:ln w="18000">
            <a:solidFill>
              <a:srgbClr val="42C7B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0" name="shape70"/>
          <p:cNvSpPr/>
          <p:nvPr/>
        </p:nvSpPr>
        <p:spPr>
          <a:xfrm>
            <a:off x="8700000" y="3050000"/>
            <a:ext cx="2700000" cy="125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ext71"/>
          <p:cNvSpPr txBox="1"/>
          <p:nvPr/>
        </p:nvSpPr>
        <p:spPr>
          <a:xfrm>
            <a:off x="8830000" y="3180000"/>
            <a:ext cx="24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一次 LLM 请求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2" name="text72"/>
          <p:cNvSpPr txBox="1"/>
          <p:nvPr/>
        </p:nvSpPr>
        <p:spPr>
          <a:xfrm>
            <a:off x="8830000" y="3490000"/>
            <a:ext cx="244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静态提示词 + 工具 Schema；动态消息只包含本轮必要上下文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0" name="text80"/>
          <p:cNvSpPr txBox="1"/>
          <p:nvPr/>
        </p:nvSpPr>
        <p:spPr>
          <a:xfrm>
            <a:off x="1550000" y="5650000"/>
            <a:ext cx="9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C857"/>
                </a:solidFill>
                <a:latin typeface="Aptos"/>
                <a:ea typeface="微软雅黑" panose="020B0503020204020204" charset="-122"/>
              </a:rPr>
              <a:t>上下文连续性来自运行状态与工具观察。RAG 未作为本项目主流程组件。</a:t>
            </a:r>
            <a:endParaRPr sz="1450" b="1">
              <a:solidFill>
                <a:srgbClr val="FFC857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20000" y="35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三个 Agent：按输入可信度与权限划分职责</a:t>
            </a:r>
            <a:endParaRPr sz="28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text4"/>
          <p:cNvSpPr txBox="1"/>
          <p:nvPr/>
        </p:nvSpPr>
        <p:spPr>
          <a:xfrm>
            <a:off x="620000" y="950000"/>
            <a:ext cx="10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0">
                <a:solidFill>
                  <a:srgbClr val="8FA7B8"/>
                </a:solidFill>
                <a:latin typeface="Aptos"/>
                <a:ea typeface="微软雅黑" panose="020B0503020204020204" charset="-122"/>
              </a:rPr>
              <a:t>交接通过 Pydantic 输出契约进行校验与留痕</a:t>
            </a:r>
            <a:endParaRPr sz="1350" b="0">
              <a:solidFill>
                <a:srgbClr val="8FA7B8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text5"/>
          <p:cNvSpPr txBox="1"/>
          <p:nvPr/>
        </p:nvSpPr>
        <p:spPr>
          <a:xfrm>
            <a:off x="620000" y="6420000"/>
            <a:ext cx="4200000" cy="1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850" b="0">
                <a:solidFill>
                  <a:srgbClr val="7891A4"/>
                </a:solidFill>
                <a:latin typeface="Aptos"/>
                <a:ea typeface="微软雅黑" panose="020B0503020204020204" charset="-122"/>
              </a:rPr>
              <a:t>NUS-ISS SHOW ME YOUR AGENT  |  07</a:t>
            </a:r>
            <a:endParaRPr sz="850" b="0">
              <a:solidFill>
                <a:srgbClr val="7891A4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6"/>
          <p:cNvSpPr/>
          <p:nvPr/>
        </p:nvSpPr>
        <p:spPr>
          <a:xfrm>
            <a:off x="620000" y="6000000"/>
            <a:ext cx="1800000" cy="3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10"/>
          <p:cNvSpPr/>
          <p:nvPr/>
        </p:nvSpPr>
        <p:spPr>
          <a:xfrm>
            <a:off x="700000" y="2050000"/>
            <a:ext cx="3450000" cy="17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11"/>
          <p:cNvSpPr/>
          <p:nvPr/>
        </p:nvSpPr>
        <p:spPr>
          <a:xfrm>
            <a:off x="700000" y="2050000"/>
            <a:ext cx="65000" cy="170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12"/>
          <p:cNvSpPr txBox="1"/>
          <p:nvPr/>
        </p:nvSpPr>
        <p:spPr>
          <a:xfrm>
            <a:off x="880000" y="2200000"/>
            <a:ext cx="313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Ingestion Agent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3" name="text13"/>
          <p:cNvSpPr txBox="1"/>
          <p:nvPr/>
        </p:nvSpPr>
        <p:spPr>
          <a:xfrm>
            <a:off x="880000" y="2570000"/>
            <a:ext cx="3110000" cy="1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面对外部表格。只能预览、映射、校验、创建导入批次；映射结果进入人工确认。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0" name="shape20"/>
          <p:cNvSpPr/>
          <p:nvPr/>
        </p:nvSpPr>
        <p:spPr>
          <a:xfrm>
            <a:off x="4350000" y="2050000"/>
            <a:ext cx="3450000" cy="17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21"/>
          <p:cNvSpPr/>
          <p:nvPr/>
        </p:nvSpPr>
        <p:spPr>
          <a:xfrm>
            <a:off x="4350000" y="2050000"/>
            <a:ext cx="65000" cy="17000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22"/>
          <p:cNvSpPr txBox="1"/>
          <p:nvPr/>
        </p:nvSpPr>
        <p:spPr>
          <a:xfrm>
            <a:off x="4530000" y="2200000"/>
            <a:ext cx="313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Planning Agent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3" name="text23"/>
          <p:cNvSpPr txBox="1"/>
          <p:nvPr/>
        </p:nvSpPr>
        <p:spPr>
          <a:xfrm>
            <a:off x="4530000" y="2570000"/>
            <a:ext cx="3110000" cy="1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面对扰动与计划。读取业务事实、调用计算工具、形成重排提案；没有激活计划的权限。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0" name="shape30"/>
          <p:cNvSpPr/>
          <p:nvPr/>
        </p:nvSpPr>
        <p:spPr>
          <a:xfrm>
            <a:off x="8000000" y="2050000"/>
            <a:ext cx="3450000" cy="17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31"/>
          <p:cNvSpPr/>
          <p:nvPr/>
        </p:nvSpPr>
        <p:spPr>
          <a:xfrm>
            <a:off x="8000000" y="2050000"/>
            <a:ext cx="65000" cy="1700000"/>
          </a:xfrm>
          <a:prstGeom prst="rect">
            <a:avLst/>
          </a:prstGeom>
          <a:solidFill>
            <a:srgbClr val="8E7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32"/>
          <p:cNvSpPr txBox="1"/>
          <p:nvPr/>
        </p:nvSpPr>
        <p:spPr>
          <a:xfrm>
            <a:off x="8180000" y="2200000"/>
            <a:ext cx="313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Risk Monitor Agent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3" name="text33"/>
          <p:cNvSpPr txBox="1"/>
          <p:nvPr/>
        </p:nvSpPr>
        <p:spPr>
          <a:xfrm>
            <a:off x="8180000" y="2570000"/>
            <a:ext cx="3110000" cy="11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读取事实并触发风险扫描，生成风险归因叙述；不持有写入工具。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0" name="arrow40"/>
          <p:cNvSpPr/>
          <p:nvPr/>
        </p:nvSpPr>
        <p:spPr>
          <a:xfrm>
            <a:off x="2500000" y="4150000"/>
            <a:ext cx="7800000" cy="1"/>
          </a:xfrm>
          <a:prstGeom prst="line">
            <a:avLst/>
          </a:prstGeom>
          <a:ln w="18000">
            <a:solidFill>
              <a:srgbClr val="42C7B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50" name="shape50"/>
          <p:cNvSpPr/>
          <p:nvPr/>
        </p:nvSpPr>
        <p:spPr>
          <a:xfrm>
            <a:off x="2800000" y="4550000"/>
            <a:ext cx="6500000" cy="820000"/>
          </a:xfrm>
          <a:prstGeom prst="roundRect">
            <a:avLst/>
          </a:prstGeom>
          <a:solidFill>
            <a:srgbClr val="197D79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ext51"/>
          <p:cNvSpPr txBox="1"/>
          <p:nvPr/>
        </p:nvSpPr>
        <p:spPr>
          <a:xfrm>
            <a:off x="2930000" y="4680000"/>
            <a:ext cx="62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Handoff Contract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2" name="text52"/>
          <p:cNvSpPr txBox="1"/>
          <p:nvPr/>
        </p:nvSpPr>
        <p:spPr>
          <a:xfrm>
            <a:off x="2930000" y="4990000"/>
            <a:ext cx="6240000" cy="3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声明字段｜extra=forbid｜不可变实例｜自由文本标记为 untrusted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0" name="text60"/>
          <p:cNvSpPr txBox="1"/>
          <p:nvPr/>
        </p:nvSpPr>
        <p:spPr>
          <a:xfrm>
            <a:off x="1450000" y="5650000"/>
            <a:ext cx="92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C857"/>
                </a:solidFill>
                <a:latin typeface="Aptos"/>
                <a:ea typeface="微软雅黑" panose="020B0503020204020204" charset="-122"/>
              </a:rPr>
              <a:t>权限不是写在说明文档里，而是由 Tool Registry 的不可变白名单在调用入口执行。</a:t>
            </a:r>
            <a:endParaRPr sz="1450" b="1">
              <a:solidFill>
                <a:srgbClr val="FFC857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20000" y="35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LLM API 在流程里承担什么工作</a:t>
            </a:r>
            <a:endParaRPr sz="28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text4"/>
          <p:cNvSpPr txBox="1"/>
          <p:nvPr/>
        </p:nvSpPr>
        <p:spPr>
          <a:xfrm>
            <a:off x="620000" y="950000"/>
            <a:ext cx="10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0">
                <a:solidFill>
                  <a:srgbClr val="8FA7B8"/>
                </a:solidFill>
                <a:latin typeface="Aptos"/>
                <a:ea typeface="微软雅黑" panose="020B0503020204020204" charset="-122"/>
              </a:rPr>
              <a:t>以受限 ReAct 循环选择下一步，每轮工具结果成为下一轮观察</a:t>
            </a:r>
            <a:endParaRPr sz="1350" b="0">
              <a:solidFill>
                <a:srgbClr val="8FA7B8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text5"/>
          <p:cNvSpPr txBox="1"/>
          <p:nvPr/>
        </p:nvSpPr>
        <p:spPr>
          <a:xfrm>
            <a:off x="620000" y="6420000"/>
            <a:ext cx="4200000" cy="1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850" b="0">
                <a:solidFill>
                  <a:srgbClr val="7891A4"/>
                </a:solidFill>
                <a:latin typeface="Aptos"/>
                <a:ea typeface="微软雅黑" panose="020B0503020204020204" charset="-122"/>
              </a:rPr>
              <a:t>NUS-ISS SHOW ME YOUR AGENT  |  08</a:t>
            </a:r>
            <a:endParaRPr sz="850" b="0">
              <a:solidFill>
                <a:srgbClr val="7891A4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6"/>
          <p:cNvSpPr/>
          <p:nvPr/>
        </p:nvSpPr>
        <p:spPr>
          <a:xfrm>
            <a:off x="620000" y="6000000"/>
            <a:ext cx="1800000" cy="3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10"/>
          <p:cNvSpPr/>
          <p:nvPr/>
        </p:nvSpPr>
        <p:spPr>
          <a:xfrm>
            <a:off x="550000" y="2350000"/>
            <a:ext cx="1500000" cy="90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11"/>
          <p:cNvSpPr txBox="1"/>
          <p:nvPr/>
        </p:nvSpPr>
        <p:spPr>
          <a:xfrm>
            <a:off x="680000" y="2480000"/>
            <a:ext cx="12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输入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2" name="text12"/>
          <p:cNvSpPr txBox="1"/>
          <p:nvPr/>
        </p:nvSpPr>
        <p:spPr>
          <a:xfrm>
            <a:off x="680000" y="2790000"/>
            <a:ext cx="124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自然语言请求或文件预览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arrow11"/>
          <p:cNvSpPr/>
          <p:nvPr/>
        </p:nvSpPr>
        <p:spPr>
          <a:xfrm>
            <a:off x="2150000" y="2800000"/>
            <a:ext cx="550000" cy="1"/>
          </a:xfrm>
          <a:prstGeom prst="line">
            <a:avLst/>
          </a:prstGeom>
          <a:ln w="18000">
            <a:solidFill>
              <a:srgbClr val="42C7B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0" name="shape20"/>
          <p:cNvSpPr/>
          <p:nvPr/>
        </p:nvSpPr>
        <p:spPr>
          <a:xfrm>
            <a:off x="2800000" y="2350000"/>
            <a:ext cx="1800000" cy="900000"/>
          </a:xfrm>
          <a:prstGeom prst="roundRect">
            <a:avLst/>
          </a:prstGeom>
          <a:solidFill>
            <a:srgbClr val="197D7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21"/>
          <p:cNvSpPr txBox="1"/>
          <p:nvPr/>
        </p:nvSpPr>
        <p:spPr>
          <a:xfrm>
            <a:off x="2930000" y="2480000"/>
            <a:ext cx="15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LLM 输出 JSON 动作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2" name="text22"/>
          <p:cNvSpPr txBox="1"/>
          <p:nvPr/>
        </p:nvSpPr>
        <p:spPr>
          <a:xfrm>
            <a:off x="2930000" y="2790000"/>
            <a:ext cx="154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tool + arguments，或 final 契约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arrow21"/>
          <p:cNvSpPr/>
          <p:nvPr/>
        </p:nvSpPr>
        <p:spPr>
          <a:xfrm>
            <a:off x="4750000" y="2800000"/>
            <a:ext cx="550000" cy="1"/>
          </a:xfrm>
          <a:prstGeom prst="line">
            <a:avLst/>
          </a:prstGeom>
          <a:ln w="18000">
            <a:solidFill>
              <a:srgbClr val="42C7B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30"/>
          <p:cNvSpPr/>
          <p:nvPr/>
        </p:nvSpPr>
        <p:spPr>
          <a:xfrm>
            <a:off x="5400000" y="2200000"/>
            <a:ext cx="2400000" cy="12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31"/>
          <p:cNvSpPr txBox="1"/>
          <p:nvPr/>
        </p:nvSpPr>
        <p:spPr>
          <a:xfrm>
            <a:off x="5530000" y="2330000"/>
            <a:ext cx="21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Tool Registry 七道闸门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2" name="text32"/>
          <p:cNvSpPr txBox="1"/>
          <p:nvPr/>
        </p:nvSpPr>
        <p:spPr>
          <a:xfrm>
            <a:off x="5530000" y="2640000"/>
            <a:ext cx="214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白名单 → 输入 Schema → 执行 → 输出 Schema → 投影 → 截断 → 记账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" name="arrow31"/>
          <p:cNvSpPr/>
          <p:nvPr/>
        </p:nvSpPr>
        <p:spPr>
          <a:xfrm>
            <a:off x="8550000" y="2800000"/>
            <a:ext cx="550000" cy="1"/>
          </a:xfrm>
          <a:prstGeom prst="line">
            <a:avLst/>
          </a:prstGeom>
          <a:ln w="18000">
            <a:solidFill>
              <a:srgbClr val="42C7B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0" name="shape40"/>
          <p:cNvSpPr/>
          <p:nvPr/>
        </p:nvSpPr>
        <p:spPr>
          <a:xfrm>
            <a:off x="9200000" y="2350000"/>
            <a:ext cx="1800000" cy="90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ext41"/>
          <p:cNvSpPr txBox="1"/>
          <p:nvPr/>
        </p:nvSpPr>
        <p:spPr>
          <a:xfrm>
            <a:off x="9330000" y="2480000"/>
            <a:ext cx="15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确定性工具结果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2" name="text42"/>
          <p:cNvSpPr txBox="1"/>
          <p:nvPr/>
        </p:nvSpPr>
        <p:spPr>
          <a:xfrm>
            <a:off x="9330000" y="2790000"/>
            <a:ext cx="154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排程、约束、风险、模拟等结构化事实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0" name="text60"/>
          <p:cNvSpPr txBox="1"/>
          <p:nvPr/>
        </p:nvSpPr>
        <p:spPr>
          <a:xfrm>
            <a:off x="2500000" y="4200000"/>
            <a:ext cx="7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550" b="1">
                <a:solidFill>
                  <a:srgbClr val="FFC857"/>
                </a:solidFill>
                <a:latin typeface="Aptos"/>
                <a:ea typeface="微软雅黑" panose="020B0503020204020204" charset="-122"/>
              </a:rPr>
              <a:t>循环控制：工具结果返回 Context Manager → 下一轮只基于最新事实决定下一步。</a:t>
            </a:r>
            <a:endParaRPr sz="1550" b="1">
              <a:solidFill>
                <a:srgbClr val="FFC85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0" name="text70"/>
          <p:cNvSpPr txBox="1"/>
          <p:nvPr/>
        </p:nvSpPr>
        <p:spPr>
          <a:xfrm>
            <a:off x="1100000" y="5100000"/>
            <a:ext cx="10000000" cy="3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7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LLM 负责：翻译、解释、选择工具、生成受限格式。   确定性服务负责：数值、约束、状态变迁。</a:t>
            </a:r>
            <a:endParaRPr sz="17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20000" y="35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进入主线演示：CNC-01 明天上午停机 6 小时</a:t>
            </a:r>
            <a:endParaRPr sz="28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text4"/>
          <p:cNvSpPr txBox="1"/>
          <p:nvPr/>
        </p:nvSpPr>
        <p:spPr>
          <a:xfrm>
            <a:off x="620000" y="950000"/>
            <a:ext cx="10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0">
                <a:solidFill>
                  <a:srgbClr val="8FA7B8"/>
                </a:solidFill>
                <a:latin typeface="Aptos"/>
                <a:ea typeface="微软雅黑" panose="020B0503020204020204" charset="-122"/>
              </a:rPr>
              <a:t>用一条“车间突发事件”串起前面的技术层</a:t>
            </a:r>
            <a:endParaRPr sz="1350" b="0">
              <a:solidFill>
                <a:srgbClr val="8FA7B8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text5"/>
          <p:cNvSpPr txBox="1"/>
          <p:nvPr/>
        </p:nvSpPr>
        <p:spPr>
          <a:xfrm>
            <a:off x="620000" y="6420000"/>
            <a:ext cx="4200000" cy="1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850" b="0">
                <a:solidFill>
                  <a:srgbClr val="7891A4"/>
                </a:solidFill>
                <a:latin typeface="Aptos"/>
                <a:ea typeface="微软雅黑" panose="020B0503020204020204" charset="-122"/>
              </a:rPr>
              <a:t>NUS-ISS SHOW ME YOUR AGENT  |  09</a:t>
            </a:r>
            <a:endParaRPr sz="850" b="0">
              <a:solidFill>
                <a:srgbClr val="7891A4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6"/>
          <p:cNvSpPr/>
          <p:nvPr/>
        </p:nvSpPr>
        <p:spPr>
          <a:xfrm>
            <a:off x="620000" y="6000000"/>
            <a:ext cx="1800000" cy="3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900000" y="165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500" b="0">
                <a:solidFill>
                  <a:srgbClr val="D3E3EC"/>
                </a:solidFill>
                <a:latin typeface="Aptos"/>
                <a:ea typeface="微软雅黑" panose="020B0503020204020204" charset="-122"/>
              </a:rPr>
              <a:t>基线状态：当前计划已处于 ACTIVE，订单、物料、机器和工人组成一个可重放的生产快照。</a:t>
            </a:r>
            <a:endParaRPr sz="1500" b="0">
              <a:solidFill>
                <a:srgbClr val="D3E3EC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0" name="arrow20"/>
          <p:cNvSpPr/>
          <p:nvPr/>
        </p:nvSpPr>
        <p:spPr>
          <a:xfrm>
            <a:off x="1300000" y="3300000"/>
            <a:ext cx="9800000" cy="1"/>
          </a:xfrm>
          <a:prstGeom prst="line">
            <a:avLst/>
          </a:prstGeom>
          <a:ln w="18000">
            <a:solidFill>
              <a:srgbClr val="42C7B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30"/>
          <p:cNvSpPr/>
          <p:nvPr/>
        </p:nvSpPr>
        <p:spPr>
          <a:xfrm>
            <a:off x="750000" y="2650000"/>
            <a:ext cx="1600000" cy="100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31"/>
          <p:cNvSpPr txBox="1"/>
          <p:nvPr/>
        </p:nvSpPr>
        <p:spPr>
          <a:xfrm>
            <a:off x="880000" y="2780000"/>
            <a:ext cx="13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① 基线计划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2" name="text32"/>
          <p:cNvSpPr txBox="1"/>
          <p:nvPr/>
        </p:nvSpPr>
        <p:spPr>
          <a:xfrm>
            <a:off x="880000" y="3090000"/>
            <a:ext cx="134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Dashboard / Schedule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0" name="shape40"/>
          <p:cNvSpPr/>
          <p:nvPr/>
        </p:nvSpPr>
        <p:spPr>
          <a:xfrm>
            <a:off x="2800000" y="2650000"/>
            <a:ext cx="1600000" cy="100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ext41"/>
          <p:cNvSpPr txBox="1"/>
          <p:nvPr/>
        </p:nvSpPr>
        <p:spPr>
          <a:xfrm>
            <a:off x="2930000" y="2780000"/>
            <a:ext cx="13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② 描述停机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2" name="text42"/>
          <p:cNvSpPr txBox="1"/>
          <p:nvPr/>
        </p:nvSpPr>
        <p:spPr>
          <a:xfrm>
            <a:off x="2930000" y="3090000"/>
            <a:ext cx="134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What-if 自然语言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0" name="shape50"/>
          <p:cNvSpPr/>
          <p:nvPr/>
        </p:nvSpPr>
        <p:spPr>
          <a:xfrm>
            <a:off x="4850000" y="2650000"/>
            <a:ext cx="1600000" cy="1000000"/>
          </a:xfrm>
          <a:prstGeom prst="roundRect">
            <a:avLst/>
          </a:prstGeom>
          <a:solidFill>
            <a:srgbClr val="197D79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ext51"/>
          <p:cNvSpPr txBox="1"/>
          <p:nvPr/>
        </p:nvSpPr>
        <p:spPr>
          <a:xfrm>
            <a:off x="4980000" y="2780000"/>
            <a:ext cx="13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③ 确认场景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2" name="text52"/>
          <p:cNvSpPr txBox="1"/>
          <p:nvPr/>
        </p:nvSpPr>
        <p:spPr>
          <a:xfrm>
            <a:off x="4980000" y="3090000"/>
            <a:ext cx="134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结构化结果确认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0" name="shape60"/>
          <p:cNvSpPr/>
          <p:nvPr/>
        </p:nvSpPr>
        <p:spPr>
          <a:xfrm>
            <a:off x="6900000" y="2650000"/>
            <a:ext cx="1600000" cy="10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61"/>
          <p:cNvSpPr txBox="1"/>
          <p:nvPr/>
        </p:nvSpPr>
        <p:spPr>
          <a:xfrm>
            <a:off x="7030000" y="2780000"/>
            <a:ext cx="13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④ 沙盒模拟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2" name="text62"/>
          <p:cNvSpPr txBox="1"/>
          <p:nvPr/>
        </p:nvSpPr>
        <p:spPr>
          <a:xfrm>
            <a:off x="7030000" y="3090000"/>
            <a:ext cx="134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比较影响，原计划不变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0" name="shape70"/>
          <p:cNvSpPr/>
          <p:nvPr/>
        </p:nvSpPr>
        <p:spPr>
          <a:xfrm>
            <a:off x="8950000" y="2650000"/>
            <a:ext cx="1600000" cy="1000000"/>
          </a:xfrm>
          <a:prstGeom prst="roundRect">
            <a:avLst/>
          </a:prstGeom>
          <a:solidFill>
            <a:srgbClr val="5C3D1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ext71"/>
          <p:cNvSpPr txBox="1"/>
          <p:nvPr/>
        </p:nvSpPr>
        <p:spPr>
          <a:xfrm>
            <a:off x="9080000" y="2780000"/>
            <a:ext cx="13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⑤ 提案审批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2" name="text72"/>
          <p:cNvSpPr txBox="1"/>
          <p:nvPr/>
        </p:nvSpPr>
        <p:spPr>
          <a:xfrm>
            <a:off x="9080000" y="3090000"/>
            <a:ext cx="134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计划员决定是否生效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0" name="text80"/>
          <p:cNvSpPr txBox="1"/>
          <p:nvPr/>
        </p:nvSpPr>
        <p:spPr>
          <a:xfrm>
            <a:off x="2200000" y="4700000"/>
            <a:ext cx="78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900" b="1">
                <a:solidFill>
                  <a:srgbClr val="FFC857"/>
                </a:solidFill>
                <a:latin typeface="Aptos"/>
                <a:ea typeface="微软雅黑" panose="020B0503020204020204" charset="-122"/>
              </a:rPr>
              <a:t>录像中每一个页面只承担这条主线的一个环节。</a:t>
            </a:r>
            <a:endParaRPr sz="1900" b="1">
              <a:solidFill>
                <a:srgbClr val="FFC857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20000" y="35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演示步骤 1：先建立可信基线</a:t>
            </a:r>
            <a:endParaRPr sz="28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text4"/>
          <p:cNvSpPr txBox="1"/>
          <p:nvPr/>
        </p:nvSpPr>
        <p:spPr>
          <a:xfrm>
            <a:off x="620000" y="950000"/>
            <a:ext cx="10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0">
                <a:solidFill>
                  <a:srgbClr val="8FA7B8"/>
                </a:solidFill>
                <a:latin typeface="Aptos"/>
                <a:ea typeface="微软雅黑" panose="020B0503020204020204" charset="-122"/>
              </a:rPr>
              <a:t>录屏 01｜Dashboard → Schedule → Approval｜约 3 分钟</a:t>
            </a:r>
            <a:endParaRPr sz="1350" b="0">
              <a:solidFill>
                <a:srgbClr val="8FA7B8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text5"/>
          <p:cNvSpPr txBox="1"/>
          <p:nvPr/>
        </p:nvSpPr>
        <p:spPr>
          <a:xfrm>
            <a:off x="620000" y="6420000"/>
            <a:ext cx="4200000" cy="1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850" b="0">
                <a:solidFill>
                  <a:srgbClr val="7891A4"/>
                </a:solidFill>
                <a:latin typeface="Aptos"/>
                <a:ea typeface="微软雅黑" panose="020B0503020204020204" charset="-122"/>
              </a:rPr>
              <a:t>NUS-ISS SHOW ME YOUR AGENT  |  10</a:t>
            </a:r>
            <a:endParaRPr sz="850" b="0">
              <a:solidFill>
                <a:srgbClr val="7891A4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6"/>
          <p:cNvSpPr/>
          <p:nvPr/>
        </p:nvSpPr>
        <p:spPr>
          <a:xfrm>
            <a:off x="620000" y="6000000"/>
            <a:ext cx="1800000" cy="3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10"/>
          <p:cNvSpPr/>
          <p:nvPr/>
        </p:nvSpPr>
        <p:spPr>
          <a:xfrm>
            <a:off x="650000" y="1750000"/>
            <a:ext cx="7100000" cy="360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11"/>
          <p:cNvSpPr txBox="1"/>
          <p:nvPr/>
        </p:nvSpPr>
        <p:spPr>
          <a:xfrm>
            <a:off x="1000000" y="3400000"/>
            <a:ext cx="6400000" cy="3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5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插入录屏 01：查看 Dashboard，生成计划，展示甘特图与 FCFS 对比，批准为 ACTIVE。</a:t>
            </a:r>
            <a:endParaRPr sz="15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0" name="shape20"/>
          <p:cNvSpPr/>
          <p:nvPr/>
        </p:nvSpPr>
        <p:spPr>
          <a:xfrm>
            <a:off x="8300000" y="1950000"/>
            <a:ext cx="3250000" cy="135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21"/>
          <p:cNvSpPr/>
          <p:nvPr/>
        </p:nvSpPr>
        <p:spPr>
          <a:xfrm>
            <a:off x="8300000" y="1950000"/>
            <a:ext cx="65000" cy="135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22"/>
          <p:cNvSpPr txBox="1"/>
          <p:nvPr/>
        </p:nvSpPr>
        <p:spPr>
          <a:xfrm>
            <a:off x="8480000" y="2100000"/>
            <a:ext cx="293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页面上要证明什么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3" name="text23"/>
          <p:cNvSpPr txBox="1"/>
          <p:nvPr/>
        </p:nvSpPr>
        <p:spPr>
          <a:xfrm>
            <a:off x="8480000" y="2470000"/>
            <a:ext cx="291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计划来自订单、物料、机器、工人的快照；排程内核将作业分成 scheduled 与 unschedulable，并给出阻塞原因。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0" name="shape30"/>
          <p:cNvSpPr/>
          <p:nvPr/>
        </p:nvSpPr>
        <p:spPr>
          <a:xfrm>
            <a:off x="8300000" y="3550000"/>
            <a:ext cx="3250000" cy="135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31"/>
          <p:cNvSpPr/>
          <p:nvPr/>
        </p:nvSpPr>
        <p:spPr>
          <a:xfrm>
            <a:off x="8300000" y="3550000"/>
            <a:ext cx="65000" cy="13500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32"/>
          <p:cNvSpPr txBox="1"/>
          <p:nvPr/>
        </p:nvSpPr>
        <p:spPr>
          <a:xfrm>
            <a:off x="8480000" y="3700000"/>
            <a:ext cx="293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此刻对应的技术层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3" name="text33"/>
          <p:cNvSpPr txBox="1"/>
          <p:nvPr/>
        </p:nvSpPr>
        <p:spPr>
          <a:xfrm>
            <a:off x="8480000" y="4070000"/>
            <a:ext cx="2910000" cy="7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FastAPI 接收请求；确定性 Scheduler 计算计划；Approval 状态机将提案变为 ACTIVE。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0" name="text40"/>
          <p:cNvSpPr txBox="1"/>
          <p:nvPr/>
        </p:nvSpPr>
        <p:spPr>
          <a:xfrm>
            <a:off x="1250000" y="565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C857"/>
                </a:solidFill>
                <a:latin typeface="Aptos"/>
                <a:ea typeface="微软雅黑" panose="020B0503020204020204" charset="-122"/>
              </a:rPr>
              <a:t>配音重点：先让评委看见“当前事实”和“约束下的基线”，后面的所有影响都以此为参照。</a:t>
            </a:r>
            <a:endParaRPr sz="1450" b="1">
              <a:solidFill>
                <a:srgbClr val="FFC857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0" name="image5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500000"/>
            <a:ext cx="12192000" cy="4700000"/>
          </a:xfrm>
          <a:prstGeom prst="rect">
            <a:avLst/>
          </a:prstGeom>
        </p:spPr>
      </p:pic>
      <p:sp>
        <p:nvSpPr>
          <p:cNvPr id="3" name="text3"/>
          <p:cNvSpPr txBox="1"/>
          <p:nvPr/>
        </p:nvSpPr>
        <p:spPr>
          <a:xfrm>
            <a:off x="620000" y="35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演示步骤 2：用自然语言描述突发事件</a:t>
            </a:r>
            <a:endParaRPr sz="28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text4"/>
          <p:cNvSpPr txBox="1"/>
          <p:nvPr/>
        </p:nvSpPr>
        <p:spPr>
          <a:xfrm>
            <a:off x="620000" y="950000"/>
            <a:ext cx="10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0">
                <a:solidFill>
                  <a:srgbClr val="8FA7B8"/>
                </a:solidFill>
                <a:latin typeface="Aptos"/>
                <a:ea typeface="微软雅黑" panose="020B0503020204020204" charset="-122"/>
              </a:rPr>
              <a:t>录屏 02｜What-if 翻译与结构化确认｜约 2 分钟</a:t>
            </a:r>
            <a:endParaRPr sz="1350" b="0">
              <a:solidFill>
                <a:srgbClr val="8FA7B8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text5"/>
          <p:cNvSpPr txBox="1"/>
          <p:nvPr/>
        </p:nvSpPr>
        <p:spPr>
          <a:xfrm>
            <a:off x="620000" y="6420000"/>
            <a:ext cx="4200000" cy="1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850" b="0">
                <a:solidFill>
                  <a:srgbClr val="7891A4"/>
                </a:solidFill>
                <a:latin typeface="Aptos"/>
                <a:ea typeface="微软雅黑" panose="020B0503020204020204" charset="-122"/>
              </a:rPr>
              <a:t>NUS-ISS SHOW ME YOUR AGENT  |  11</a:t>
            </a:r>
            <a:endParaRPr sz="850" b="0">
              <a:solidFill>
                <a:srgbClr val="7891A4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6"/>
          <p:cNvSpPr/>
          <p:nvPr/>
        </p:nvSpPr>
        <p:spPr>
          <a:xfrm>
            <a:off x="620000" y="6000000"/>
            <a:ext cx="1800000" cy="3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10"/>
          <p:cNvSpPr/>
          <p:nvPr/>
        </p:nvSpPr>
        <p:spPr>
          <a:xfrm>
            <a:off x="700000" y="2100000"/>
            <a:ext cx="4900000" cy="65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11"/>
          <p:cNvSpPr txBox="1"/>
          <p:nvPr/>
        </p:nvSpPr>
        <p:spPr>
          <a:xfrm>
            <a:off x="1000000" y="2310000"/>
            <a:ext cx="4400000" cy="19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计划员输入：CNC-01 明天上午停机 6 小时</a:t>
            </a:r>
            <a:endParaRPr sz="15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2" name="arrow12"/>
          <p:cNvSpPr/>
          <p:nvPr/>
        </p:nvSpPr>
        <p:spPr>
          <a:xfrm>
            <a:off x="2650000" y="2920000"/>
            <a:ext cx="650000" cy="1"/>
          </a:xfrm>
          <a:prstGeom prst="line">
            <a:avLst/>
          </a:prstGeom>
          <a:ln w="18000">
            <a:solidFill>
              <a:srgbClr val="FFC857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0" name="shape20"/>
          <p:cNvSpPr/>
          <p:nvPr/>
        </p:nvSpPr>
        <p:spPr>
          <a:xfrm>
            <a:off x="700000" y="3150000"/>
            <a:ext cx="4900000" cy="105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21"/>
          <p:cNvSpPr txBox="1"/>
          <p:nvPr/>
        </p:nvSpPr>
        <p:spPr>
          <a:xfrm>
            <a:off x="900000" y="3460000"/>
            <a:ext cx="45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00" b="1">
                <a:solidFill>
                  <a:srgbClr val="CFE6E4"/>
                </a:solidFill>
                <a:latin typeface="Aptos"/>
                <a:ea typeface="微软雅黑" panose="020B0503020204020204" charset="-122"/>
              </a:rPr>
              <a:t>结构化预览：machine_id = CNC-01；start = 2026-03-03 08:00；end = 14:00</a:t>
            </a:r>
            <a:endParaRPr sz="1400" b="1">
              <a:solidFill>
                <a:srgbClr val="CFE6E4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0" name="text30"/>
          <p:cNvSpPr txBox="1"/>
          <p:nvPr/>
        </p:nvSpPr>
        <p:spPr>
          <a:xfrm>
            <a:off x="700000" y="455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500" b="1">
                <a:solidFill>
                  <a:srgbClr val="FFC857"/>
                </a:solidFill>
                <a:latin typeface="Aptos"/>
                <a:ea typeface="微软雅黑" panose="020B0503020204020204" charset="-122"/>
              </a:rPr>
              <a:t>LLM 的职责：从自然语言提取封闭场景变更，输出 JSON，交给计划员确认。</a:t>
            </a:r>
            <a:endParaRPr sz="1500" b="1">
              <a:solidFill>
                <a:srgbClr val="FFC85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1" name="text31"/>
          <p:cNvSpPr txBox="1"/>
          <p:nvPr/>
        </p:nvSpPr>
        <p:spPr>
          <a:xfrm>
            <a:off x="700000" y="5000000"/>
            <a:ext cx="5000000" cy="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D3E3EC"/>
                </a:solidFill>
                <a:latin typeface="Aptos"/>
                <a:ea typeface="微软雅黑" panose="020B0503020204020204" charset="-122"/>
              </a:rPr>
              <a:t>LIVE 模式下展示真实模型调用；模型不可用时，切换为结构化表单并明确标注降级状态。</a:t>
            </a:r>
            <a:endParaRPr sz="1250" b="0">
              <a:solidFill>
                <a:srgbClr val="D3E3EC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20000" y="35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演示步骤 3：在沙盒里计算影响</a:t>
            </a:r>
            <a:endParaRPr sz="28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text4"/>
          <p:cNvSpPr txBox="1"/>
          <p:nvPr/>
        </p:nvSpPr>
        <p:spPr>
          <a:xfrm>
            <a:off x="620000" y="950000"/>
            <a:ext cx="10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0">
                <a:solidFill>
                  <a:srgbClr val="8FA7B8"/>
                </a:solidFill>
                <a:latin typeface="Aptos"/>
                <a:ea typeface="微软雅黑" panose="020B0503020204020204" charset="-122"/>
              </a:rPr>
              <a:t>录屏 03｜Run simulation → Compare plans｜约 2 分钟</a:t>
            </a:r>
            <a:endParaRPr sz="1350" b="0">
              <a:solidFill>
                <a:srgbClr val="8FA7B8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text5"/>
          <p:cNvSpPr txBox="1"/>
          <p:nvPr/>
        </p:nvSpPr>
        <p:spPr>
          <a:xfrm>
            <a:off x="620000" y="6420000"/>
            <a:ext cx="4200000" cy="1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850" b="0">
                <a:solidFill>
                  <a:srgbClr val="7891A4"/>
                </a:solidFill>
                <a:latin typeface="Aptos"/>
                <a:ea typeface="微软雅黑" panose="020B0503020204020204" charset="-122"/>
              </a:rPr>
              <a:t>NUS-ISS SHOW ME YOUR AGENT  |  12</a:t>
            </a:r>
            <a:endParaRPr sz="850" b="0">
              <a:solidFill>
                <a:srgbClr val="7891A4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6"/>
          <p:cNvSpPr/>
          <p:nvPr/>
        </p:nvSpPr>
        <p:spPr>
          <a:xfrm>
            <a:off x="620000" y="6000000"/>
            <a:ext cx="1800000" cy="3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10"/>
          <p:cNvSpPr/>
          <p:nvPr/>
        </p:nvSpPr>
        <p:spPr>
          <a:xfrm>
            <a:off x="800000" y="2350000"/>
            <a:ext cx="2400000" cy="110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11"/>
          <p:cNvSpPr txBox="1"/>
          <p:nvPr/>
        </p:nvSpPr>
        <p:spPr>
          <a:xfrm>
            <a:off x="930000" y="2480000"/>
            <a:ext cx="21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当前 ACTIVE 计划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2" name="text12"/>
          <p:cNvSpPr txBox="1"/>
          <p:nvPr/>
        </p:nvSpPr>
        <p:spPr>
          <a:xfrm>
            <a:off x="930000" y="2790000"/>
            <a:ext cx="214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正式生产计划保持不变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" name="arrow11"/>
          <p:cNvSpPr/>
          <p:nvPr/>
        </p:nvSpPr>
        <p:spPr>
          <a:xfrm>
            <a:off x="3450000" y="2900000"/>
            <a:ext cx="850000" cy="1"/>
          </a:xfrm>
          <a:prstGeom prst="line">
            <a:avLst/>
          </a:prstGeom>
          <a:ln w="18000">
            <a:solidFill>
              <a:srgbClr val="FFC857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0" name="shape20"/>
          <p:cNvSpPr/>
          <p:nvPr/>
        </p:nvSpPr>
        <p:spPr>
          <a:xfrm>
            <a:off x="4500000" y="2350000"/>
            <a:ext cx="2400000" cy="1100000"/>
          </a:xfrm>
          <a:prstGeom prst="roundRect">
            <a:avLst/>
          </a:prstGeom>
          <a:solidFill>
            <a:srgbClr val="5C3D1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21"/>
          <p:cNvSpPr txBox="1"/>
          <p:nvPr/>
        </p:nvSpPr>
        <p:spPr>
          <a:xfrm>
            <a:off x="4630000" y="2480000"/>
            <a:ext cx="21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Sandbox Scenario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2" name="text22"/>
          <p:cNvSpPr txBox="1"/>
          <p:nvPr/>
        </p:nvSpPr>
        <p:spPr>
          <a:xfrm>
            <a:off x="4630000" y="2790000"/>
            <a:ext cx="214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临时加入 CNC-01 停机窗口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" name="arrow21"/>
          <p:cNvSpPr/>
          <p:nvPr/>
        </p:nvSpPr>
        <p:spPr>
          <a:xfrm>
            <a:off x="7150000" y="2900000"/>
            <a:ext cx="850000" cy="1"/>
          </a:xfrm>
          <a:prstGeom prst="line">
            <a:avLst/>
          </a:prstGeom>
          <a:ln w="18000">
            <a:solidFill>
              <a:srgbClr val="FFC857"/>
            </a:solidFill>
            <a:tailEnd type="triangle"/>
          </a:ln>
        </p:spPr>
        <p:txBody>
          <a:bodyPr/>
          <a:lstStyle/>
          <a:p/>
        </p:txBody>
      </p:sp>
      <p:sp>
        <p:nvSpPr>
          <p:cNvPr id="30" name="shape30"/>
          <p:cNvSpPr/>
          <p:nvPr/>
        </p:nvSpPr>
        <p:spPr>
          <a:xfrm>
            <a:off x="8200000" y="2350000"/>
            <a:ext cx="3000000" cy="1100000"/>
          </a:xfrm>
          <a:prstGeom prst="roundRect">
            <a:avLst/>
          </a:prstGeom>
          <a:solidFill>
            <a:srgbClr val="197D79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31"/>
          <p:cNvSpPr txBox="1"/>
          <p:nvPr/>
        </p:nvSpPr>
        <p:spPr>
          <a:xfrm>
            <a:off x="8330000" y="2480000"/>
            <a:ext cx="27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确定性核心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2" name="text32"/>
          <p:cNvSpPr txBox="1"/>
          <p:nvPr/>
        </p:nvSpPr>
        <p:spPr>
          <a:xfrm>
            <a:off x="8330000" y="2790000"/>
            <a:ext cx="274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run_scenario + evaluate + compare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0" name="text40"/>
          <p:cNvSpPr txBox="1"/>
          <p:nvPr/>
        </p:nvSpPr>
        <p:spPr>
          <a:xfrm>
            <a:off x="1300000" y="4150000"/>
            <a:ext cx="9300000" cy="3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7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录屏画面：先展示延迟、不可排产或目标差值，再回到 Dashboard，确认 ACTIVE 计划没有被改写。</a:t>
            </a:r>
            <a:endParaRPr sz="17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0" name="shape50"/>
          <p:cNvSpPr/>
          <p:nvPr/>
        </p:nvSpPr>
        <p:spPr>
          <a:xfrm>
            <a:off x="2900000" y="5000000"/>
            <a:ext cx="6200000" cy="75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shape51"/>
          <p:cNvSpPr/>
          <p:nvPr/>
        </p:nvSpPr>
        <p:spPr>
          <a:xfrm>
            <a:off x="2900000" y="5000000"/>
            <a:ext cx="65000" cy="75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ext52"/>
          <p:cNvSpPr txBox="1"/>
          <p:nvPr/>
        </p:nvSpPr>
        <p:spPr>
          <a:xfrm>
            <a:off x="3080000" y="5150000"/>
            <a:ext cx="5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技术解释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3" name="text53"/>
          <p:cNvSpPr txBox="1"/>
          <p:nvPr/>
        </p:nvSpPr>
        <p:spPr>
          <a:xfrm>
            <a:off x="3080000" y="5520000"/>
            <a:ext cx="5860000" cy="1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情景推演读写隔离。模拟结果只是提案的证据，不会污染正式计划。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20000" y="35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演示步骤 4：从模拟结论到正式提案</a:t>
            </a:r>
            <a:endParaRPr sz="28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text4"/>
          <p:cNvSpPr txBox="1"/>
          <p:nvPr/>
        </p:nvSpPr>
        <p:spPr>
          <a:xfrm>
            <a:off x="620000" y="950000"/>
            <a:ext cx="10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0">
                <a:solidFill>
                  <a:srgbClr val="8FA7B8"/>
                </a:solidFill>
                <a:latin typeface="Aptos"/>
                <a:ea typeface="微软雅黑" panose="020B0503020204020204" charset="-122"/>
              </a:rPr>
              <a:t>录屏 04｜Generate formal proposal → Approval｜约 2 分钟</a:t>
            </a:r>
            <a:endParaRPr sz="1350" b="0">
              <a:solidFill>
                <a:srgbClr val="8FA7B8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text5"/>
          <p:cNvSpPr txBox="1"/>
          <p:nvPr/>
        </p:nvSpPr>
        <p:spPr>
          <a:xfrm>
            <a:off x="620000" y="6420000"/>
            <a:ext cx="4200000" cy="1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850" b="0">
                <a:solidFill>
                  <a:srgbClr val="7891A4"/>
                </a:solidFill>
                <a:latin typeface="Aptos"/>
                <a:ea typeface="微软雅黑" panose="020B0503020204020204" charset="-122"/>
              </a:rPr>
              <a:t>NUS-ISS SHOW ME YOUR AGENT  |  13</a:t>
            </a:r>
            <a:endParaRPr sz="850" b="0">
              <a:solidFill>
                <a:srgbClr val="7891A4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6"/>
          <p:cNvSpPr/>
          <p:nvPr/>
        </p:nvSpPr>
        <p:spPr>
          <a:xfrm>
            <a:off x="620000" y="6000000"/>
            <a:ext cx="1800000" cy="3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arrow10"/>
          <p:cNvSpPr/>
          <p:nvPr/>
        </p:nvSpPr>
        <p:spPr>
          <a:xfrm>
            <a:off x="2100000" y="3250000"/>
            <a:ext cx="7600000" cy="1"/>
          </a:xfrm>
          <a:prstGeom prst="line">
            <a:avLst/>
          </a:prstGeom>
          <a:ln w="18000">
            <a:solidFill>
              <a:srgbClr val="42C7B5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0" name="shape20"/>
          <p:cNvSpPr/>
          <p:nvPr/>
        </p:nvSpPr>
        <p:spPr>
          <a:xfrm>
            <a:off x="900000" y="2550000"/>
            <a:ext cx="2100000" cy="115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21"/>
          <p:cNvSpPr txBox="1"/>
          <p:nvPr/>
        </p:nvSpPr>
        <p:spPr>
          <a:xfrm>
            <a:off x="1030000" y="2680000"/>
            <a:ext cx="18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影响评估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2" name="text22"/>
          <p:cNvSpPr txBox="1"/>
          <p:nvPr/>
        </p:nvSpPr>
        <p:spPr>
          <a:xfrm>
            <a:off x="1030000" y="2990000"/>
            <a:ext cx="184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哪些订单、交期和资源受到影响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0" name="shape30"/>
          <p:cNvSpPr/>
          <p:nvPr/>
        </p:nvSpPr>
        <p:spPr>
          <a:xfrm>
            <a:off x="3650000" y="2550000"/>
            <a:ext cx="2100000" cy="1150000"/>
          </a:xfrm>
          <a:prstGeom prst="roundRect">
            <a:avLst/>
          </a:prstGeom>
          <a:solidFill>
            <a:srgbClr val="197D79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31"/>
          <p:cNvSpPr txBox="1"/>
          <p:nvPr/>
        </p:nvSpPr>
        <p:spPr>
          <a:xfrm>
            <a:off x="3780000" y="2680000"/>
            <a:ext cx="18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重排提案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2" name="text32"/>
          <p:cNvSpPr txBox="1"/>
          <p:nvPr/>
        </p:nvSpPr>
        <p:spPr>
          <a:xfrm>
            <a:off x="3780000" y="2990000"/>
            <a:ext cx="184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保存为 PENDING_APPROVAL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0" name="shape40"/>
          <p:cNvSpPr/>
          <p:nvPr/>
        </p:nvSpPr>
        <p:spPr>
          <a:xfrm>
            <a:off x="6400000" y="2550000"/>
            <a:ext cx="2100000" cy="1150000"/>
          </a:xfrm>
          <a:prstGeom prst="roundRect">
            <a:avLst/>
          </a:prstGeom>
          <a:solidFill>
            <a:srgbClr val="5C3D1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ext41"/>
          <p:cNvSpPr txBox="1"/>
          <p:nvPr/>
        </p:nvSpPr>
        <p:spPr>
          <a:xfrm>
            <a:off x="6530000" y="2680000"/>
            <a:ext cx="18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人工审批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2" name="text42"/>
          <p:cNvSpPr txBox="1"/>
          <p:nvPr/>
        </p:nvSpPr>
        <p:spPr>
          <a:xfrm>
            <a:off x="6530000" y="2990000"/>
            <a:ext cx="184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Approve / Modify / Reject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0" name="shape50"/>
          <p:cNvSpPr/>
          <p:nvPr/>
        </p:nvSpPr>
        <p:spPr>
          <a:xfrm>
            <a:off x="9150000" y="2550000"/>
            <a:ext cx="2100000" cy="115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ext51"/>
          <p:cNvSpPr txBox="1"/>
          <p:nvPr/>
        </p:nvSpPr>
        <p:spPr>
          <a:xfrm>
            <a:off x="9280000" y="2680000"/>
            <a:ext cx="1840000" cy="2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新 ACTIVE 计划</a:t>
            </a:r>
            <a:endParaRPr sz="14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2" name="text52"/>
          <p:cNvSpPr txBox="1"/>
          <p:nvPr/>
        </p:nvSpPr>
        <p:spPr>
          <a:xfrm>
            <a:off x="9280000" y="2990000"/>
            <a:ext cx="1840000" cy="6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0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审批后才成为正式计划</a:t>
            </a:r>
            <a:endParaRPr sz="10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0" name="text60"/>
          <p:cNvSpPr txBox="1"/>
          <p:nvPr/>
        </p:nvSpPr>
        <p:spPr>
          <a:xfrm>
            <a:off x="1700000" y="4450000"/>
            <a:ext cx="86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600" b="1">
                <a:solidFill>
                  <a:srgbClr val="FFC857"/>
                </a:solidFill>
                <a:latin typeface="Aptos"/>
                <a:ea typeface="微软雅黑" panose="020B0503020204020204" charset="-122"/>
              </a:rPr>
              <a:t>录屏画面：展示目标分项、输入版本；尝试审批时系统再次核验约束与版本。</a:t>
            </a:r>
            <a:endParaRPr sz="1600" b="1">
              <a:solidFill>
                <a:srgbClr val="FFC85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0" name="text70"/>
          <p:cNvSpPr txBox="1"/>
          <p:nvPr/>
        </p:nvSpPr>
        <p:spPr>
          <a:xfrm>
            <a:off x="2050000" y="51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7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Agent 可以准备提案和解释；批准动作由认证后的计划员端点执行。</a:t>
            </a:r>
            <a:endParaRPr sz="17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20000" y="35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演示步骤 5：风险、追踪与复盘</a:t>
            </a:r>
            <a:endParaRPr sz="28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text4"/>
          <p:cNvSpPr txBox="1"/>
          <p:nvPr/>
        </p:nvSpPr>
        <p:spPr>
          <a:xfrm>
            <a:off x="620000" y="950000"/>
            <a:ext cx="10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0">
                <a:solidFill>
                  <a:srgbClr val="8FA7B8"/>
                </a:solidFill>
                <a:latin typeface="Aptos"/>
                <a:ea typeface="微软雅黑" panose="020B0503020204020204" charset="-122"/>
              </a:rPr>
              <a:t>录屏 05｜Risks → Trace Viewer → Value Ledger｜约 2 分钟</a:t>
            </a:r>
            <a:endParaRPr sz="1350" b="0">
              <a:solidFill>
                <a:srgbClr val="8FA7B8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text5"/>
          <p:cNvSpPr txBox="1"/>
          <p:nvPr/>
        </p:nvSpPr>
        <p:spPr>
          <a:xfrm>
            <a:off x="620000" y="6420000"/>
            <a:ext cx="4200000" cy="1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850" b="0">
                <a:solidFill>
                  <a:srgbClr val="7891A4"/>
                </a:solidFill>
                <a:latin typeface="Aptos"/>
                <a:ea typeface="微软雅黑" panose="020B0503020204020204" charset="-122"/>
              </a:rPr>
              <a:t>NUS-ISS SHOW ME YOUR AGENT  |  14</a:t>
            </a:r>
            <a:endParaRPr sz="850" b="0">
              <a:solidFill>
                <a:srgbClr val="7891A4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6"/>
          <p:cNvSpPr/>
          <p:nvPr/>
        </p:nvSpPr>
        <p:spPr>
          <a:xfrm>
            <a:off x="620000" y="6000000"/>
            <a:ext cx="1800000" cy="3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10"/>
          <p:cNvSpPr/>
          <p:nvPr/>
        </p:nvSpPr>
        <p:spPr>
          <a:xfrm>
            <a:off x="750000" y="2050000"/>
            <a:ext cx="3300000" cy="145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11"/>
          <p:cNvSpPr/>
          <p:nvPr/>
        </p:nvSpPr>
        <p:spPr>
          <a:xfrm>
            <a:off x="750000" y="2050000"/>
            <a:ext cx="65000" cy="1450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12"/>
          <p:cNvSpPr txBox="1"/>
          <p:nvPr/>
        </p:nvSpPr>
        <p:spPr>
          <a:xfrm>
            <a:off x="930000" y="2200000"/>
            <a:ext cx="29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Risk Scanner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3" name="text13"/>
          <p:cNvSpPr txBox="1"/>
          <p:nvPr/>
        </p:nvSpPr>
        <p:spPr>
          <a:xfrm>
            <a:off x="930000" y="2570000"/>
            <a:ext cx="296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展示瓶颈、物料耗尽、零缓冲订单或产能风险；风险来自确定性扫描。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0" name="shape20"/>
          <p:cNvSpPr/>
          <p:nvPr/>
        </p:nvSpPr>
        <p:spPr>
          <a:xfrm>
            <a:off x="4450000" y="2050000"/>
            <a:ext cx="3300000" cy="145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21"/>
          <p:cNvSpPr/>
          <p:nvPr/>
        </p:nvSpPr>
        <p:spPr>
          <a:xfrm>
            <a:off x="4450000" y="2050000"/>
            <a:ext cx="65000" cy="145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22"/>
          <p:cNvSpPr txBox="1"/>
          <p:nvPr/>
        </p:nvSpPr>
        <p:spPr>
          <a:xfrm>
            <a:off x="4630000" y="2200000"/>
            <a:ext cx="29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Trace Viewer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3" name="text23"/>
          <p:cNvSpPr txBox="1"/>
          <p:nvPr/>
        </p:nvSpPr>
        <p:spPr>
          <a:xfrm>
            <a:off x="4630000" y="2570000"/>
            <a:ext cx="296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展示本次任务、上下文、工具调用、结果、提案和审批记录。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0" name="shape30"/>
          <p:cNvSpPr/>
          <p:nvPr/>
        </p:nvSpPr>
        <p:spPr>
          <a:xfrm>
            <a:off x="8150000" y="2050000"/>
            <a:ext cx="3300000" cy="145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31"/>
          <p:cNvSpPr/>
          <p:nvPr/>
        </p:nvSpPr>
        <p:spPr>
          <a:xfrm>
            <a:off x="8150000" y="2050000"/>
            <a:ext cx="65000" cy="1450000"/>
          </a:xfrm>
          <a:prstGeom prst="rect">
            <a:avLst/>
          </a:prstGeom>
          <a:solidFill>
            <a:srgbClr val="8E7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32"/>
          <p:cNvSpPr txBox="1"/>
          <p:nvPr/>
        </p:nvSpPr>
        <p:spPr>
          <a:xfrm>
            <a:off x="8330000" y="2200000"/>
            <a:ext cx="29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Value Ledger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3" name="text33"/>
          <p:cNvSpPr txBox="1"/>
          <p:nvPr/>
        </p:nvSpPr>
        <p:spPr>
          <a:xfrm>
            <a:off x="8330000" y="2570000"/>
            <a:ext cx="2960000" cy="8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将运行次数、审批、人工步骤与可量化指标沉淀为价值证据。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0" name="text40"/>
          <p:cNvSpPr txBox="1"/>
          <p:nvPr/>
        </p:nvSpPr>
        <p:spPr>
          <a:xfrm>
            <a:off x="1250000" y="4300000"/>
            <a:ext cx="93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录屏画面：用同一个 trace_id 串起“发生了什么、系统看到了什么、调用了什么、谁做了最终决定”。</a:t>
            </a:r>
            <a:endParaRPr sz="18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0" name="text50"/>
          <p:cNvSpPr txBox="1"/>
          <p:nvPr/>
        </p:nvSpPr>
        <p:spPr>
          <a:xfrm>
            <a:off x="2300000" y="5100000"/>
            <a:ext cx="77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600" b="1">
                <a:solidFill>
                  <a:srgbClr val="FFC857"/>
                </a:solidFill>
                <a:latin typeface="Aptos"/>
                <a:ea typeface="微软雅黑" panose="020B0503020204020204" charset="-122"/>
              </a:rPr>
              <a:t>这一步把智能体行为从一次临时交互，变成可复盘的运营记录。</a:t>
            </a:r>
            <a:endParaRPr sz="1600" b="1">
              <a:solidFill>
                <a:srgbClr val="FFC857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20000" y="35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从演示回看技术：每一段画面都对应一项系统证据</a:t>
            </a:r>
            <a:endParaRPr sz="28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text4"/>
          <p:cNvSpPr txBox="1"/>
          <p:nvPr/>
        </p:nvSpPr>
        <p:spPr>
          <a:xfrm>
            <a:off x="620000" y="950000"/>
            <a:ext cx="10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0">
                <a:solidFill>
                  <a:srgbClr val="8FA7B8"/>
                </a:solidFill>
                <a:latin typeface="Aptos"/>
                <a:ea typeface="微软雅黑" panose="020B0503020204020204" charset="-122"/>
              </a:rPr>
              <a:t>评委看到的不是页面巡游，而是一条可验证的决策链</a:t>
            </a:r>
            <a:endParaRPr sz="1350" b="0">
              <a:solidFill>
                <a:srgbClr val="8FA7B8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text5"/>
          <p:cNvSpPr txBox="1"/>
          <p:nvPr/>
        </p:nvSpPr>
        <p:spPr>
          <a:xfrm>
            <a:off x="620000" y="6420000"/>
            <a:ext cx="4200000" cy="1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850" b="0">
                <a:solidFill>
                  <a:srgbClr val="7891A4"/>
                </a:solidFill>
                <a:latin typeface="Aptos"/>
                <a:ea typeface="微软雅黑" panose="020B0503020204020204" charset="-122"/>
              </a:rPr>
              <a:t>NUS-ISS SHOW ME YOUR AGENT  |  15</a:t>
            </a:r>
            <a:endParaRPr sz="850" b="0">
              <a:solidFill>
                <a:srgbClr val="7891A4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6"/>
          <p:cNvSpPr/>
          <p:nvPr/>
        </p:nvSpPr>
        <p:spPr>
          <a:xfrm>
            <a:off x="620000" y="6000000"/>
            <a:ext cx="1800000" cy="3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10"/>
          <p:cNvSpPr txBox="1"/>
          <p:nvPr/>
        </p:nvSpPr>
        <p:spPr>
          <a:xfrm>
            <a:off x="850000" y="1750000"/>
            <a:ext cx="17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450" b="1">
                <a:solidFill>
                  <a:srgbClr val="42C7B5"/>
                </a:solidFill>
                <a:latin typeface="Aptos"/>
                <a:ea typeface="微软雅黑" panose="020B0503020204020204" charset="-122"/>
              </a:rPr>
              <a:t>演示环节</a:t>
            </a:r>
            <a:endParaRPr sz="1450" b="1">
              <a:solidFill>
                <a:srgbClr val="42C7B5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1" name="text11"/>
          <p:cNvSpPr txBox="1"/>
          <p:nvPr/>
        </p:nvSpPr>
        <p:spPr>
          <a:xfrm>
            <a:off x="3600000" y="1750000"/>
            <a:ext cx="26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450" b="1">
                <a:solidFill>
                  <a:srgbClr val="42C7B5"/>
                </a:solidFill>
                <a:latin typeface="Aptos"/>
                <a:ea typeface="微软雅黑" panose="020B0503020204020204" charset="-122"/>
              </a:rPr>
              <a:t>背后的实现</a:t>
            </a:r>
            <a:endParaRPr sz="1450" b="1">
              <a:solidFill>
                <a:srgbClr val="42C7B5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2" name="text12"/>
          <p:cNvSpPr txBox="1"/>
          <p:nvPr/>
        </p:nvSpPr>
        <p:spPr>
          <a:xfrm>
            <a:off x="7600000" y="1750000"/>
            <a:ext cx="2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450" b="1">
                <a:solidFill>
                  <a:srgbClr val="42C7B5"/>
                </a:solidFill>
                <a:latin typeface="Aptos"/>
                <a:ea typeface="微软雅黑" panose="020B0503020204020204" charset="-122"/>
              </a:rPr>
              <a:t>可见证据</a:t>
            </a:r>
            <a:endParaRPr sz="1450" b="1">
              <a:solidFill>
                <a:srgbClr val="42C7B5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0" name="shape20"/>
          <p:cNvSpPr/>
          <p:nvPr/>
        </p:nvSpPr>
        <p:spPr>
          <a:xfrm>
            <a:off x="650000" y="2150000"/>
            <a:ext cx="3000000" cy="6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21"/>
          <p:cNvSpPr/>
          <p:nvPr/>
        </p:nvSpPr>
        <p:spPr>
          <a:xfrm>
            <a:off x="650000" y="2150000"/>
            <a:ext cx="65000" cy="600000"/>
          </a:xfrm>
          <a:prstGeom prst="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22"/>
          <p:cNvSpPr txBox="1"/>
          <p:nvPr/>
        </p:nvSpPr>
        <p:spPr>
          <a:xfrm>
            <a:off x="830000" y="230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基线排程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3" name="text23"/>
          <p:cNvSpPr txBox="1"/>
          <p:nvPr/>
        </p:nvSpPr>
        <p:spPr>
          <a:xfrm>
            <a:off x="830000" y="2670000"/>
            <a:ext cx="2660000" cy="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确定性 Scheduler + 约束检查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0" name="shape30"/>
          <p:cNvSpPr/>
          <p:nvPr/>
        </p:nvSpPr>
        <p:spPr>
          <a:xfrm>
            <a:off x="7350000" y="2150000"/>
            <a:ext cx="3800000" cy="6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31"/>
          <p:cNvSpPr/>
          <p:nvPr/>
        </p:nvSpPr>
        <p:spPr>
          <a:xfrm>
            <a:off x="7350000" y="2150000"/>
            <a:ext cx="65000" cy="600000"/>
          </a:xfrm>
          <a:prstGeom prst="rect">
            <a:avLst/>
          </a:prstGeom>
          <a:solidFill>
            <a:srgbClr val="197D79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32"/>
          <p:cNvSpPr txBox="1"/>
          <p:nvPr/>
        </p:nvSpPr>
        <p:spPr>
          <a:xfrm>
            <a:off x="7530000" y="2300000"/>
            <a:ext cx="34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甘特图、阻塞原因、FCFS 对比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3" name="text33"/>
          <p:cNvSpPr txBox="1"/>
          <p:nvPr/>
        </p:nvSpPr>
        <p:spPr>
          <a:xfrm>
            <a:off x="7530000" y="2670000"/>
            <a:ext cx="3460000" cy="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0" name="shape40"/>
          <p:cNvSpPr/>
          <p:nvPr/>
        </p:nvSpPr>
        <p:spPr>
          <a:xfrm>
            <a:off x="650000" y="2950000"/>
            <a:ext cx="3000000" cy="6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shape41"/>
          <p:cNvSpPr/>
          <p:nvPr/>
        </p:nvSpPr>
        <p:spPr>
          <a:xfrm>
            <a:off x="650000" y="2950000"/>
            <a:ext cx="65000" cy="600000"/>
          </a:xfrm>
          <a:prstGeom prst="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ext42"/>
          <p:cNvSpPr txBox="1"/>
          <p:nvPr/>
        </p:nvSpPr>
        <p:spPr>
          <a:xfrm>
            <a:off x="830000" y="310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自然语言停机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3" name="text43"/>
          <p:cNvSpPr txBox="1"/>
          <p:nvPr/>
        </p:nvSpPr>
        <p:spPr>
          <a:xfrm>
            <a:off x="830000" y="3470000"/>
            <a:ext cx="2660000" cy="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Planning Agent + Schema 契约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0" name="shape50"/>
          <p:cNvSpPr/>
          <p:nvPr/>
        </p:nvSpPr>
        <p:spPr>
          <a:xfrm>
            <a:off x="7350000" y="2950000"/>
            <a:ext cx="3800000" cy="6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shape51"/>
          <p:cNvSpPr/>
          <p:nvPr/>
        </p:nvSpPr>
        <p:spPr>
          <a:xfrm>
            <a:off x="7350000" y="2950000"/>
            <a:ext cx="65000" cy="600000"/>
          </a:xfrm>
          <a:prstGeom prst="rect">
            <a:avLst/>
          </a:prstGeom>
          <a:solidFill>
            <a:srgbClr val="197D79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ext52"/>
          <p:cNvSpPr txBox="1"/>
          <p:nvPr/>
        </p:nvSpPr>
        <p:spPr>
          <a:xfrm>
            <a:off x="7530000" y="3100000"/>
            <a:ext cx="34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结构化场景预览与人工确认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3" name="text53"/>
          <p:cNvSpPr txBox="1"/>
          <p:nvPr/>
        </p:nvSpPr>
        <p:spPr>
          <a:xfrm>
            <a:off x="7530000" y="3470000"/>
            <a:ext cx="3460000" cy="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0" name="shape60"/>
          <p:cNvSpPr/>
          <p:nvPr/>
        </p:nvSpPr>
        <p:spPr>
          <a:xfrm>
            <a:off x="650000" y="3750000"/>
            <a:ext cx="3000000" cy="6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shape61"/>
          <p:cNvSpPr/>
          <p:nvPr/>
        </p:nvSpPr>
        <p:spPr>
          <a:xfrm>
            <a:off x="650000" y="3750000"/>
            <a:ext cx="65000" cy="600000"/>
          </a:xfrm>
          <a:prstGeom prst="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ext62"/>
          <p:cNvSpPr txBox="1"/>
          <p:nvPr/>
        </p:nvSpPr>
        <p:spPr>
          <a:xfrm>
            <a:off x="830000" y="390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沙盒推演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3" name="text63"/>
          <p:cNvSpPr txBox="1"/>
          <p:nvPr/>
        </p:nvSpPr>
        <p:spPr>
          <a:xfrm>
            <a:off x="830000" y="4270000"/>
            <a:ext cx="2660000" cy="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run_scenario + compare_plans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0" name="shape70"/>
          <p:cNvSpPr/>
          <p:nvPr/>
        </p:nvSpPr>
        <p:spPr>
          <a:xfrm>
            <a:off x="7350000" y="3750000"/>
            <a:ext cx="3800000" cy="6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shape71"/>
          <p:cNvSpPr/>
          <p:nvPr/>
        </p:nvSpPr>
        <p:spPr>
          <a:xfrm>
            <a:off x="7350000" y="3750000"/>
            <a:ext cx="65000" cy="600000"/>
          </a:xfrm>
          <a:prstGeom prst="rect">
            <a:avLst/>
          </a:prstGeom>
          <a:solidFill>
            <a:srgbClr val="197D79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72"/>
          <p:cNvSpPr txBox="1"/>
          <p:nvPr/>
        </p:nvSpPr>
        <p:spPr>
          <a:xfrm>
            <a:off x="7530000" y="3900000"/>
            <a:ext cx="34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正式计划保持 ACTIVE，差异可见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73" name="text73"/>
          <p:cNvSpPr txBox="1"/>
          <p:nvPr/>
        </p:nvSpPr>
        <p:spPr>
          <a:xfrm>
            <a:off x="7530000" y="4270000"/>
            <a:ext cx="3460000" cy="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0" name="shape80"/>
          <p:cNvSpPr/>
          <p:nvPr/>
        </p:nvSpPr>
        <p:spPr>
          <a:xfrm>
            <a:off x="650000" y="4550000"/>
            <a:ext cx="3000000" cy="6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shape81"/>
          <p:cNvSpPr/>
          <p:nvPr/>
        </p:nvSpPr>
        <p:spPr>
          <a:xfrm>
            <a:off x="650000" y="4550000"/>
            <a:ext cx="65000" cy="600000"/>
          </a:xfrm>
          <a:prstGeom prst="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text82"/>
          <p:cNvSpPr txBox="1"/>
          <p:nvPr/>
        </p:nvSpPr>
        <p:spPr>
          <a:xfrm>
            <a:off x="830000" y="4700000"/>
            <a:ext cx="26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审批与 Trace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83" name="text83"/>
          <p:cNvSpPr txBox="1"/>
          <p:nvPr/>
        </p:nvSpPr>
        <p:spPr>
          <a:xfrm>
            <a:off x="830000" y="5070000"/>
            <a:ext cx="2660000" cy="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状态机 + 审计 + 工具记账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0" name="shape90"/>
          <p:cNvSpPr/>
          <p:nvPr/>
        </p:nvSpPr>
        <p:spPr>
          <a:xfrm>
            <a:off x="7350000" y="4550000"/>
            <a:ext cx="3800000" cy="60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shape91"/>
          <p:cNvSpPr/>
          <p:nvPr/>
        </p:nvSpPr>
        <p:spPr>
          <a:xfrm>
            <a:off x="7350000" y="4550000"/>
            <a:ext cx="65000" cy="600000"/>
          </a:xfrm>
          <a:prstGeom prst="rect">
            <a:avLst/>
          </a:prstGeom>
          <a:solidFill>
            <a:srgbClr val="197D79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text92"/>
          <p:cNvSpPr txBox="1"/>
          <p:nvPr/>
        </p:nvSpPr>
        <p:spPr>
          <a:xfrm>
            <a:off x="7530000" y="4700000"/>
            <a:ext cx="34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批准记录、版本、trace_id、调用日志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93" name="text93"/>
          <p:cNvSpPr txBox="1"/>
          <p:nvPr/>
        </p:nvSpPr>
        <p:spPr>
          <a:xfrm>
            <a:off x="7530000" y="5070000"/>
            <a:ext cx="3460000" cy="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00" name="text100"/>
          <p:cNvSpPr txBox="1"/>
          <p:nvPr/>
        </p:nvSpPr>
        <p:spPr>
          <a:xfrm>
            <a:off x="3550000" y="3300000"/>
            <a:ext cx="33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450" b="1">
                <a:solidFill>
                  <a:srgbClr val="FFC857"/>
                </a:solidFill>
                <a:latin typeface="Aptos"/>
                <a:ea typeface="微软雅黑" panose="020B0503020204020204" charset="-122"/>
              </a:rPr>
              <a:t>中间层：Orchestrator 统一路由、创建 Trace、管理预算与 ReAct 回合。</a:t>
            </a:r>
            <a:endParaRPr sz="1450" b="1">
              <a:solidFill>
                <a:srgbClr val="FFC857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3"/>
          <p:cNvSpPr txBox="1"/>
          <p:nvPr/>
        </p:nvSpPr>
        <p:spPr>
          <a:xfrm>
            <a:off x="620000" y="350000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落地价值：运营效率、治理能力与扩展基础</a:t>
            </a:r>
            <a:endParaRPr sz="28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" name="text4"/>
          <p:cNvSpPr txBox="1"/>
          <p:nvPr/>
        </p:nvSpPr>
        <p:spPr>
          <a:xfrm>
            <a:off x="620000" y="950000"/>
            <a:ext cx="10500000" cy="28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350" b="0">
                <a:solidFill>
                  <a:srgbClr val="8FA7B8"/>
                </a:solidFill>
                <a:latin typeface="Aptos"/>
                <a:ea typeface="微软雅黑" panose="020B0503020204020204" charset="-122"/>
              </a:rPr>
              <a:t>价值来自缩短决策链，并保留进入生产环境前的控制点</a:t>
            </a:r>
            <a:endParaRPr sz="1350" b="0">
              <a:solidFill>
                <a:srgbClr val="8FA7B8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" name="text5"/>
          <p:cNvSpPr txBox="1"/>
          <p:nvPr/>
        </p:nvSpPr>
        <p:spPr>
          <a:xfrm>
            <a:off x="620000" y="6420000"/>
            <a:ext cx="4200000" cy="1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850" b="0">
                <a:solidFill>
                  <a:srgbClr val="7891A4"/>
                </a:solidFill>
                <a:latin typeface="Aptos"/>
                <a:ea typeface="微软雅黑" panose="020B0503020204020204" charset="-122"/>
              </a:rPr>
              <a:t>NUS-ISS SHOW ME YOUR AGENT  |  16</a:t>
            </a:r>
            <a:endParaRPr sz="850" b="0">
              <a:solidFill>
                <a:srgbClr val="7891A4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6" name="shape6"/>
          <p:cNvSpPr/>
          <p:nvPr/>
        </p:nvSpPr>
        <p:spPr>
          <a:xfrm>
            <a:off x="620000" y="6000000"/>
            <a:ext cx="1800000" cy="3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hape10"/>
          <p:cNvSpPr/>
          <p:nvPr/>
        </p:nvSpPr>
        <p:spPr>
          <a:xfrm>
            <a:off x="700000" y="2100000"/>
            <a:ext cx="3350000" cy="175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11"/>
          <p:cNvSpPr/>
          <p:nvPr/>
        </p:nvSpPr>
        <p:spPr>
          <a:xfrm>
            <a:off x="700000" y="2100000"/>
            <a:ext cx="65000" cy="1750000"/>
          </a:xfrm>
          <a:prstGeom prst="rect">
            <a:avLst/>
          </a:prstGeom>
          <a:solidFill>
            <a:srgbClr val="42C7B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12"/>
          <p:cNvSpPr txBox="1"/>
          <p:nvPr/>
        </p:nvSpPr>
        <p:spPr>
          <a:xfrm>
            <a:off x="880000" y="2250000"/>
            <a:ext cx="303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运营价值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13" name="text13"/>
          <p:cNvSpPr txBox="1"/>
          <p:nvPr/>
        </p:nvSpPr>
        <p:spPr>
          <a:xfrm>
            <a:off x="880000" y="2620000"/>
            <a:ext cx="3010000" cy="11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更快识别可排与不可排作业；用 What-if 先计算影响；减少反复手工比对。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0" name="shape20"/>
          <p:cNvSpPr/>
          <p:nvPr/>
        </p:nvSpPr>
        <p:spPr>
          <a:xfrm>
            <a:off x="4420000" y="2100000"/>
            <a:ext cx="3350000" cy="175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21"/>
          <p:cNvSpPr/>
          <p:nvPr/>
        </p:nvSpPr>
        <p:spPr>
          <a:xfrm>
            <a:off x="4420000" y="2100000"/>
            <a:ext cx="65000" cy="17500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22"/>
          <p:cNvSpPr txBox="1"/>
          <p:nvPr/>
        </p:nvSpPr>
        <p:spPr>
          <a:xfrm>
            <a:off x="4600000" y="2250000"/>
            <a:ext cx="303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治理价值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23" name="text23"/>
          <p:cNvSpPr txBox="1"/>
          <p:nvPr/>
        </p:nvSpPr>
        <p:spPr>
          <a:xfrm>
            <a:off x="4600000" y="2620000"/>
            <a:ext cx="3010000" cy="11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审批、版本、输入来源和工具调用形成统一证据链，便于责任追踪与复盘。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0" name="shape30"/>
          <p:cNvSpPr/>
          <p:nvPr/>
        </p:nvSpPr>
        <p:spPr>
          <a:xfrm>
            <a:off x="8140000" y="2100000"/>
            <a:ext cx="3350000" cy="1750000"/>
          </a:xfrm>
          <a:prstGeom prst="roundRect">
            <a:avLst/>
          </a:prstGeom>
          <a:solidFill>
            <a:srgbClr val="183A57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hape31"/>
          <p:cNvSpPr/>
          <p:nvPr/>
        </p:nvSpPr>
        <p:spPr>
          <a:xfrm>
            <a:off x="8140000" y="2100000"/>
            <a:ext cx="65000" cy="1750000"/>
          </a:xfrm>
          <a:prstGeom prst="rect">
            <a:avLst/>
          </a:prstGeom>
          <a:solidFill>
            <a:srgbClr val="8E7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32"/>
          <p:cNvSpPr txBox="1"/>
          <p:nvPr/>
        </p:nvSpPr>
        <p:spPr>
          <a:xfrm>
            <a:off x="8320000" y="2250000"/>
            <a:ext cx="303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商业与技术扩展</a:t>
            </a:r>
            <a:endParaRPr sz="17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33" name="text33"/>
          <p:cNvSpPr txBox="1"/>
          <p:nvPr/>
        </p:nvSpPr>
        <p:spPr>
          <a:xfrm>
            <a:off x="8320000" y="2620000"/>
            <a:ext cx="3010000" cy="11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250" b="0">
                <a:solidFill>
                  <a:srgbClr val="B8CAD7"/>
                </a:solidFill>
                <a:latin typeface="Aptos"/>
                <a:ea typeface="微软雅黑" panose="020B0503020204020204" charset="-122"/>
              </a:rPr>
              <a:t>连接 ERP / MES；沉淀跨产线与跨工厂的计划数据和规则资产。</a:t>
            </a:r>
            <a:endParaRPr sz="1250" b="0">
              <a:solidFill>
                <a:srgbClr val="B8CAD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40" name="text40"/>
          <p:cNvSpPr txBox="1"/>
          <p:nvPr/>
        </p:nvSpPr>
        <p:spPr>
          <a:xfrm>
            <a:off x="1650000" y="4750000"/>
            <a:ext cx="8800000" cy="3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8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可用的起点：生产计划协作。   可扩展的方向：报价承诺、风险治理、跨站点协同。</a:t>
            </a:r>
            <a:endParaRPr sz="18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50" name="image5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1" name="shape51"/>
          <p:cNvSpPr/>
          <p:nvPr/>
        </p:nvSpPr>
        <p:spPr>
          <a:xfrm>
            <a:off x="0" y="0"/>
            <a:ext cx="5800000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ext52"/>
          <p:cNvSpPr txBox="1"/>
          <p:nvPr/>
        </p:nvSpPr>
        <p:spPr>
          <a:xfrm>
            <a:off x="650000" y="1800000"/>
            <a:ext cx="49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让车间变化成为可管理的决策流程</a:t>
            </a:r>
            <a:endParaRPr sz="310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3" name="text53"/>
          <p:cNvSpPr txBox="1"/>
          <p:nvPr/>
        </p:nvSpPr>
        <p:spPr>
          <a:xfrm>
            <a:off x="650000" y="2850000"/>
            <a:ext cx="45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750" b="0">
                <a:solidFill>
                  <a:srgbClr val="C4D9E7"/>
                </a:solidFill>
                <a:latin typeface="Aptos"/>
                <a:ea typeface="微软雅黑" panose="020B0503020204020204" charset="-122"/>
              </a:rPr>
              <a:t>一次变化，从事实确认开始，经过可复现计算，最终由人做出可审计的决定。</a:t>
            </a:r>
            <a:endParaRPr sz="1750" b="0">
              <a:solidFill>
                <a:srgbClr val="C4D9E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4" name="shape54"/>
          <p:cNvSpPr/>
          <p:nvPr/>
        </p:nvSpPr>
        <p:spPr>
          <a:xfrm>
            <a:off x="650000" y="3750000"/>
            <a:ext cx="4000000" cy="580000"/>
          </a:xfrm>
          <a:prstGeom prst="roundRect">
            <a:avLst/>
          </a:prstGeom>
          <a:solidFill>
            <a:srgbClr val="17344E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ext55"/>
          <p:cNvSpPr txBox="1"/>
          <p:nvPr/>
        </p:nvSpPr>
        <p:spPr>
          <a:xfrm>
            <a:off x="850000" y="3940000"/>
            <a:ext cx="3600000" cy="19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sz="1350" b="1">
                <a:solidFill>
                  <a:srgbClr val="FFC857"/>
                </a:solidFill>
                <a:latin typeface="Aptos"/>
                <a:ea typeface="微软雅黑" panose="020B0503020204020204" charset="-122"/>
              </a:rPr>
              <a:t>可信智能体 = 受控模型调用 + 确定性内核 + 人在环治理</a:t>
            </a:r>
            <a:endParaRPr sz="1350" b="1">
              <a:solidFill>
                <a:srgbClr val="FFC857"/>
              </a:solidFill>
              <a:latin typeface="Aptos"/>
              <a:ea typeface="微软雅黑" panose="020B0503020204020204" charset="-122"/>
            </a:endParaRPr>
          </a:p>
        </p:txBody>
      </p:sp>
      <p:sp>
        <p:nvSpPr>
          <p:cNvPr id="56" name="text56"/>
          <p:cNvSpPr txBox="1"/>
          <p:nvPr/>
        </p:nvSpPr>
        <p:spPr>
          <a:xfrm>
            <a:off x="650000" y="4750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  <a:ea typeface="微软雅黑" panose="020B0503020204020204" charset="-122"/>
              </a:rPr>
              <a:t>Thank you</a:t>
            </a:r>
            <a:endParaRPr sz="1550" b="1">
              <a:solidFill>
                <a:srgbClr val="FFFFFF"/>
              </a:solidFill>
              <a:latin typeface="Aptos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4206</Words>
  <Application>WPS 演示</Application>
  <PresentationFormat>宽屏</PresentationFormat>
  <Paragraphs>396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Aptos</vt:lpstr>
      <vt:lpstr>Segoe UI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李禹辰</cp:lastModifiedBy>
  <cp:revision>161</cp:revision>
  <dcterms:created xsi:type="dcterms:W3CDTF">2019-06-19T02:08:00Z</dcterms:created>
  <dcterms:modified xsi:type="dcterms:W3CDTF">2026-09-25T14:06:54Z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1ADD06AF20D74C87A7D5195B369767E1_11</vt:lpwstr>
  </property>
</Properties>
</file>